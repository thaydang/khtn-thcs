
<file path=[Content_Types].xml><?xml version="1.0" encoding="utf-8"?>
<Types xmlns="http://schemas.openxmlformats.org/package/2006/content-types">
  <Default Extension="fntdata" ContentType="application/x-fontdata"/>
  <Default Extension="glb" ContentType="model/gltf.binary"/>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9144000"/>
  <p:embeddedFontLst>
    <p:embeddedFont>
      <p:font typeface="#9Slide02 Noi dung dai" panose="02000000000000000000" pitchFamily="2" charset="0"/>
      <p:regular r:id="rId32"/>
    </p:embeddedFont>
    <p:embeddedFont>
      <p:font typeface="DejaVu Math TeX Gyre" panose="02000503000000000000" pitchFamily="2"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7E44"/>
    <a:srgbClr val="006666"/>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8DA5EA-012E-48FE-A7E7-DF5530313DB0}">
  <a:tblStyle styleId="{EC8DA5EA-012E-48FE-A7E7-DF5530313DB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65" autoAdjust="0"/>
    <p:restoredTop sz="94660"/>
  </p:normalViewPr>
  <p:slideViewPr>
    <p:cSldViewPr snapToGrid="0">
      <p:cViewPr varScale="1">
        <p:scale>
          <a:sx n="55" d="100"/>
          <a:sy n="55" d="100"/>
        </p:scale>
        <p:origin x="1096" y="4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4" name="Google Shape;32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2" name="Google Shape;40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 name="Google Shape;42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0" name="Google Shape;46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3" name="9Slide.vn - 2019">
            <a:extLst>
              <a:ext uri="{FF2B5EF4-FFF2-40B4-BE49-F238E27FC236}">
                <a16:creationId xmlns:a16="http://schemas.microsoft.com/office/drawing/2014/main" id="{C3CBD61E-E047-02B9-19B7-B80A40729DA3}"/>
              </a:ext>
            </a:extLst>
          </p:cNvPr>
          <p:cNvSpPr txBox="1"/>
          <p:nvPr userDrawn="1"/>
        </p:nvSpPr>
        <p:spPr>
          <a:xfrm>
            <a:off x="0" y="-1604665"/>
            <a:ext cx="12192000" cy="461665"/>
          </a:xfrm>
          <a:prstGeom prst="rect">
            <a:avLst/>
          </a:prstGeom>
          <a:noFill/>
        </p:spPr>
        <p:txBody>
          <a:bodyPr vert="horz" rtlCol="0">
            <a:spAutoFit/>
          </a:bodyPr>
          <a:lstStyle/>
          <a:p>
            <a:pPr algn="ctr"/>
            <a:r>
              <a:rPr lang="en-US" sz="2400">
                <a:solidFill>
                  <a:srgbClr val="CFCFCF"/>
                </a:solidFill>
              </a:rPr>
              <a:t>www.9slide.vn</a:t>
            </a:r>
          </a:p>
        </p:txBody>
      </p:sp>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microsoft.com/office/2017/06/relationships/model3d" Target="../media/model3d1.glb"/></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38733"/>
            <a:ext cx="12192000" cy="6858000"/>
          </a:xfrm>
          <a:prstGeom prst="rect">
            <a:avLst/>
          </a:prstGeom>
          <a:noFill/>
          <a:ln>
            <a:noFill/>
          </a:ln>
        </p:spPr>
      </p:pic>
      <p:cxnSp>
        <p:nvCxnSpPr>
          <p:cNvPr id="4" name="Đường nối Thẳng 3">
            <a:extLst>
              <a:ext uri="{FF2B5EF4-FFF2-40B4-BE49-F238E27FC236}">
                <a16:creationId xmlns:a16="http://schemas.microsoft.com/office/drawing/2014/main" id="{6C8B9A00-2041-5E30-00F2-6CD2E1121048}"/>
              </a:ext>
            </a:extLst>
          </p:cNvPr>
          <p:cNvCxnSpPr>
            <a:cxnSpLocks/>
          </p:cNvCxnSpPr>
          <p:nvPr/>
        </p:nvCxnSpPr>
        <p:spPr>
          <a:xfrm>
            <a:off x="4918614" y="4138394"/>
            <a:ext cx="683239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Google Shape;85;p13"/>
          <p:cNvSpPr txBox="1"/>
          <p:nvPr/>
        </p:nvSpPr>
        <p:spPr>
          <a:xfrm>
            <a:off x="4918614" y="2467471"/>
            <a:ext cx="7273386" cy="1477328"/>
          </a:xfrm>
          <a:prstGeom prst="rect">
            <a:avLst/>
          </a:prstGeom>
          <a:solidFill>
            <a:schemeClr val="bg1"/>
          </a:solidFill>
          <a:ln>
            <a:noFill/>
          </a:ln>
        </p:spPr>
        <p:txBody>
          <a:bodyPr spcFirstLastPara="1" wrap="square" lIns="0" tIns="0" rIns="0" bIns="0" anchor="t" anchorCtr="0">
            <a:spAutoFit/>
          </a:bodyPr>
          <a:lstStyle/>
          <a:p>
            <a:pPr marL="0" marR="0" lvl="0" indent="0" rtl="0">
              <a:spcBef>
                <a:spcPts val="0"/>
              </a:spcBef>
              <a:spcAft>
                <a:spcPts val="0"/>
              </a:spcAft>
              <a:buNone/>
            </a:pPr>
            <a:r>
              <a:rPr lang="vi-VN" sz="4800" b="1" i="0" u="none" strike="noStrike" cap="none">
                <a:solidFill>
                  <a:srgbClr val="006666"/>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MÔI TRƯỜNG VÀ CÁC</a:t>
            </a:r>
            <a:br>
              <a:rPr lang="vi-VN" sz="1800" b="1" i="0" u="none" strike="noStrike" cap="none">
                <a:solidFill>
                  <a:srgbClr val="006666"/>
                </a:solidFill>
                <a:latin typeface="DejaVu Math TeX Gyre" panose="02000503000000000000" pitchFamily="2" charset="0"/>
                <a:ea typeface="DejaVu Math TeX Gyre" panose="02000503000000000000" pitchFamily="2" charset="0"/>
                <a:cs typeface="DejaVu Math TeX Gyre" panose="02000503000000000000" pitchFamily="2" charset="0"/>
                <a:sym typeface="Calibri"/>
              </a:rPr>
            </a:br>
            <a:r>
              <a:rPr lang="vi-VN" sz="4800" b="1" i="0" u="none" strike="noStrike" cap="none">
                <a:solidFill>
                  <a:srgbClr val="006666"/>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NHÂN TỐ SINH THÁI</a:t>
            </a:r>
            <a:endParaRPr lang="vi-VN" b="1">
              <a:solidFill>
                <a:srgbClr val="006666"/>
              </a:solidFill>
              <a:latin typeface="DejaVu Math TeX Gyre" panose="02000503000000000000" pitchFamily="2" charset="0"/>
              <a:ea typeface="DejaVu Math TeX Gyre" panose="02000503000000000000" pitchFamily="2" charset="0"/>
              <a:cs typeface="DejaVu Math TeX Gyre" panose="02000503000000000000" pitchFamily="2" charset="0"/>
            </a:endParaRPr>
          </a:p>
        </p:txBody>
      </p:sp>
      <p:sp>
        <p:nvSpPr>
          <p:cNvPr id="86" name="Google Shape;86;p13"/>
          <p:cNvSpPr txBox="1"/>
          <p:nvPr/>
        </p:nvSpPr>
        <p:spPr>
          <a:xfrm>
            <a:off x="4918614" y="4331990"/>
            <a:ext cx="6689726" cy="369332"/>
          </a:xfrm>
          <a:prstGeom prst="rect">
            <a:avLst/>
          </a:prstGeom>
          <a:solidFill>
            <a:schemeClr val="bg1"/>
          </a:solidFill>
          <a:ln>
            <a:noFill/>
          </a:ln>
        </p:spPr>
        <p:txBody>
          <a:bodyPr spcFirstLastPara="1" wrap="square" lIns="0" tIns="0" rIns="0" bIns="0" anchor="t" anchorCtr="0">
            <a:spAutoFit/>
          </a:bodyPr>
          <a:lstStyle/>
          <a:p>
            <a:pPr marL="0" marR="0" lvl="0" indent="0" rtl="0">
              <a:spcBef>
                <a:spcPts val="0"/>
              </a:spcBef>
              <a:spcAft>
                <a:spcPts val="0"/>
              </a:spcAft>
              <a:buNone/>
            </a:pPr>
            <a:r>
              <a:rPr lang="en-US" sz="2400" b="0" i="0" u="none" strike="noStrike" cap="none">
                <a:solidFill>
                  <a:srgbClr val="002060"/>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Chủ đề 8: Sinh vật và môi trường</a:t>
            </a:r>
            <a:endParaRPr>
              <a:solidFill>
                <a:srgbClr val="002060"/>
              </a:solidFill>
            </a:endParaRPr>
          </a:p>
        </p:txBody>
      </p:sp>
      <p:pic>
        <p:nvPicPr>
          <p:cNvPr id="13" name="Hình ảnh 12">
            <a:extLst>
              <a:ext uri="{FF2B5EF4-FFF2-40B4-BE49-F238E27FC236}">
                <a16:creationId xmlns:a16="http://schemas.microsoft.com/office/drawing/2014/main" id="{ADDFFD17-AB59-9098-C708-37B0513A1323}"/>
              </a:ext>
            </a:extLst>
          </p:cNvPr>
          <p:cNvPicPr>
            <a:picLocks noChangeAspect="1"/>
          </p:cNvPicPr>
          <p:nvPr/>
        </p:nvPicPr>
        <p:blipFill>
          <a:blip r:embed="rId4"/>
          <a:stretch>
            <a:fillRect/>
          </a:stretch>
        </p:blipFill>
        <p:spPr>
          <a:xfrm>
            <a:off x="450376" y="1415374"/>
            <a:ext cx="4027251" cy="4027251"/>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5"/>
                                        </p:tgtEl>
                                        <p:attrNameLst>
                                          <p:attrName>style.visibility</p:attrName>
                                        </p:attrNameLst>
                                      </p:cBhvr>
                                      <p:to>
                                        <p:strVal val="visible"/>
                                      </p:to>
                                    </p:set>
                                    <p:animEffect transition="in" filter="wipe(left)">
                                      <p:cBhvr>
                                        <p:cTn id="16" dur="500"/>
                                        <p:tgtEl>
                                          <p:spTgt spid="8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wipe(left)">
                                      <p:cBhvr>
                                        <p:cTn id="25"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609600" y="1822946"/>
            <a:ext cx="10756900" cy="1580455"/>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571500" y="3645892"/>
            <a:ext cx="10756903" cy="1580455"/>
          </a:xfrm>
          <a:prstGeom prst="rect">
            <a:avLst/>
          </a:prstGeom>
          <a:noFill/>
          <a:ln>
            <a:noFill/>
          </a:ln>
        </p:spPr>
      </p:pic>
      <p:sp>
        <p:nvSpPr>
          <p:cNvPr id="95" name="Google Shape;95;p14"/>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MỤC TIÊU BÀI HỌC</a:t>
            </a:r>
            <a:endParaRPr>
              <a:latin typeface="#9Slide02 Noi dung dai" panose="02000000000000000000" pitchFamily="2" charset="0"/>
              <a:ea typeface="#9Slide02 Noi dung dai" panose="02000000000000000000" pitchFamily="2" charset="0"/>
            </a:endParaRPr>
          </a:p>
        </p:txBody>
      </p:sp>
      <p:sp>
        <p:nvSpPr>
          <p:cNvPr id="96" name="Google Shape;96;p14"/>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9Slide02 Noi dung dai" panose="02000000000000000000" pitchFamily="2" charset="0"/>
              <a:ea typeface="#9Slide02 Noi dung dai" panose="02000000000000000000" pitchFamily="2" charset="0"/>
              <a:cs typeface="Calibri"/>
              <a:sym typeface="Calibri"/>
            </a:endParaRPr>
          </a:p>
        </p:txBody>
      </p:sp>
      <p:sp>
        <p:nvSpPr>
          <p:cNvPr id="98" name="Google Shape;98;p14"/>
          <p:cNvSpPr txBox="1"/>
          <p:nvPr/>
        </p:nvSpPr>
        <p:spPr>
          <a:xfrm>
            <a:off x="1000124" y="2177463"/>
            <a:ext cx="10113964"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Phát biểu được khái niệm môi trường sống. Phân biệt 4 loại môi trường chủ yếu và các nhân tố sinh thái.</a:t>
            </a:r>
            <a:endParaRPr sz="1600">
              <a:latin typeface="DejaVu Math TeX Gyre" panose="02000503000000000000" pitchFamily="2" charset="0"/>
              <a:ea typeface="DejaVu Math TeX Gyre" panose="02000503000000000000" pitchFamily="2" charset="0"/>
              <a:cs typeface="DejaVu Math TeX Gyre" panose="02000503000000000000" pitchFamily="2" charset="0"/>
            </a:endParaRPr>
          </a:p>
        </p:txBody>
      </p:sp>
      <p:sp>
        <p:nvSpPr>
          <p:cNvPr id="100" name="Google Shape;100;p14"/>
          <p:cNvSpPr txBox="1"/>
          <p:nvPr/>
        </p:nvSpPr>
        <p:spPr>
          <a:xfrm>
            <a:off x="969961" y="3799837"/>
            <a:ext cx="10036177"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Trình bày sơ lược về giới hạn sinh thái. Giải thích được sự thích nghi của sinh vật trong tự nhiên.</a:t>
            </a:r>
            <a:endParaRPr sz="1600">
              <a:latin typeface="DejaVu Math TeX Gyre" panose="02000503000000000000" pitchFamily="2" charset="0"/>
              <a:ea typeface="DejaVu Math TeX Gyre" panose="02000503000000000000" pitchFamily="2" charset="0"/>
              <a:cs typeface="DejaVu Math TeX Gyre" panose="02000503000000000000" pitchFamily="2"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04"/>
        <p:cNvGrpSpPr/>
        <p:nvPr/>
      </p:nvGrpSpPr>
      <p:grpSpPr>
        <a:xfrm>
          <a:off x="0" y="0"/>
          <a:ext cx="0" cy="0"/>
          <a:chOff x="0" y="0"/>
          <a:chExt cx="0" cy="0"/>
        </a:xfrm>
      </p:grpSpPr>
      <p:pic>
        <p:nvPicPr>
          <p:cNvPr id="105" name="Google Shape;105;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6" name="Google Shape;106;p15"/>
          <p:cNvSpPr/>
          <p:nvPr/>
        </p:nvSpPr>
        <p:spPr>
          <a:xfrm rot="16200000">
            <a:off x="1155159" y="3123753"/>
            <a:ext cx="952500" cy="108923"/>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9Slide02 Noi dung dai" panose="02000000000000000000" pitchFamily="2" charset="0"/>
              <a:ea typeface="#9Slide02 Noi dung dai" panose="02000000000000000000" pitchFamily="2" charset="0"/>
              <a:cs typeface="Calibri"/>
              <a:sym typeface="Calibri"/>
            </a:endParaRPr>
          </a:p>
        </p:txBody>
      </p:sp>
      <p:sp>
        <p:nvSpPr>
          <p:cNvPr id="107" name="Google Shape;107;p15"/>
          <p:cNvSpPr txBox="1"/>
          <p:nvPr/>
        </p:nvSpPr>
        <p:spPr>
          <a:xfrm>
            <a:off x="295275" y="2701965"/>
            <a:ext cx="1160145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Hoạt động 1: Khởi động</a:t>
            </a:r>
            <a:endParaRPr>
              <a:latin typeface="#9Slide02 Noi dung dai" panose="02000000000000000000" pitchFamily="2" charset="0"/>
              <a:ea typeface="#9Slide02 Noi dung dai" panose="02000000000000000000" pitchFamily="2" charset="0"/>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12"/>
        <p:cNvGrpSpPr/>
        <p:nvPr/>
      </p:nvGrpSpPr>
      <p:grpSpPr>
        <a:xfrm>
          <a:off x="0" y="0"/>
          <a:ext cx="0" cy="0"/>
          <a:chOff x="0" y="0"/>
          <a:chExt cx="0" cy="0"/>
        </a:xfrm>
      </p:grpSpPr>
      <p:pic>
        <p:nvPicPr>
          <p:cNvPr id="113" name="Google Shape;113;p16" descr="image.png"/>
          <p:cNvPicPr preferRelativeResize="0"/>
          <p:nvPr/>
        </p:nvPicPr>
        <p:blipFill rotWithShape="1">
          <a:blip r:embed="rId3">
            <a:alphaModFix/>
          </a:blip>
          <a:srcRect/>
          <a:stretch/>
        </p:blipFill>
        <p:spPr>
          <a:xfrm>
            <a:off x="28500" y="0"/>
            <a:ext cx="12192000" cy="6858000"/>
          </a:xfrm>
          <a:prstGeom prst="rect">
            <a:avLst/>
          </a:prstGeom>
          <a:noFill/>
          <a:ln>
            <a:noFill/>
          </a:ln>
        </p:spPr>
      </p:pic>
      <p:sp>
        <p:nvSpPr>
          <p:cNvPr id="114" name="Google Shape;114;p16"/>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9Slide02 Noi dung dai" panose="02000000000000000000" pitchFamily="2" charset="0"/>
              <a:ea typeface="#9Slide02 Noi dung dai" panose="02000000000000000000" pitchFamily="2" charset="0"/>
              <a:cs typeface="Calibri"/>
              <a:sym typeface="Calibri"/>
            </a:endParaRPr>
          </a:p>
        </p:txBody>
      </p:sp>
      <p:sp>
        <p:nvSpPr>
          <p:cNvPr id="120" name="Google Shape;120;p16"/>
          <p:cNvSpPr txBox="1"/>
          <p:nvPr/>
        </p:nvSpPr>
        <p:spPr>
          <a:xfrm>
            <a:off x="3329105" y="5191945"/>
            <a:ext cx="4165438"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Xương rồng dưới biển?</a:t>
            </a:r>
            <a:endParaRPr sz="2000" b="1">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endParaRPr>
          </a:p>
        </p:txBody>
      </p:sp>
      <p:sp>
        <p:nvSpPr>
          <p:cNvPr id="121" name="Google Shape;121;p16"/>
          <p:cNvSpPr txBox="1"/>
          <p:nvPr/>
        </p:nvSpPr>
        <p:spPr>
          <a:xfrm>
            <a:off x="3156416" y="7785108"/>
            <a:ext cx="4165438"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Cá mập trên sa mạc?</a:t>
            </a:r>
            <a:endParaRPr sz="2000" b="1">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endParaRPr>
          </a:p>
        </p:txBody>
      </p:sp>
      <p:sp>
        <p:nvSpPr>
          <p:cNvPr id="122" name="Google Shape;122;p16"/>
          <p:cNvSpPr txBox="1"/>
          <p:nvPr/>
        </p:nvSpPr>
        <p:spPr>
          <a:xfrm>
            <a:off x="762000" y="571500"/>
            <a:ext cx="11401500" cy="4617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3000" b="1" i="0">
                <a:solidFill>
                  <a:srgbClr val="1B4332"/>
                </a:solidFill>
                <a:latin typeface="#9Slide02 Noi dung dai" panose="02000000000000000000" pitchFamily="2" charset="0"/>
                <a:ea typeface="#9Slide02 Noi dung dai" panose="02000000000000000000" pitchFamily="2" charset="0"/>
                <a:cs typeface="Poppins"/>
                <a:sym typeface="Poppins"/>
              </a:rPr>
              <a:t>THỬ THÁCH SINH TỒN</a:t>
            </a:r>
            <a:endParaRPr sz="3000" b="1" i="0">
              <a:solidFill>
                <a:srgbClr val="1B4332"/>
              </a:solidFill>
              <a:latin typeface="#9Slide02 Noi dung dai" panose="02000000000000000000" pitchFamily="2" charset="0"/>
              <a:ea typeface="#9Slide02 Noi dung dai" panose="02000000000000000000" pitchFamily="2" charset="0"/>
              <a:cs typeface="Poppins"/>
              <a:sym typeface="Poppins"/>
            </a:endParaRPr>
          </a:p>
        </p:txBody>
      </p:sp>
      <p:sp>
        <p:nvSpPr>
          <p:cNvPr id="123" name="Google Shape;123;p16"/>
          <p:cNvSpPr txBox="1"/>
          <p:nvPr/>
        </p:nvSpPr>
        <p:spPr>
          <a:xfrm>
            <a:off x="643981" y="1420093"/>
            <a:ext cx="7327900" cy="1292662"/>
          </a:xfrm>
          <a:prstGeom prst="rect">
            <a:avLst/>
          </a:prstGeom>
          <a:solidFill>
            <a:srgbClr val="000000">
              <a:alpha val="0"/>
            </a:srgbClr>
          </a:solidFill>
          <a:ln>
            <a:noFill/>
          </a:ln>
        </p:spPr>
        <p:txBody>
          <a:bodyPr spcFirstLastPara="1" wrap="square" lIns="0" tIns="0" rIns="0" bIns="0" anchor="ctr" anchorCtr="0">
            <a:spAutoFit/>
          </a:bodyPr>
          <a:lstStyle/>
          <a:p>
            <a:pPr marL="0" lvl="0" indent="0" rtl="0">
              <a:spcBef>
                <a:spcPts val="0"/>
              </a:spcBef>
              <a:spcAft>
                <a:spcPts val="0"/>
              </a:spcAft>
              <a:buNone/>
            </a:pPr>
            <a:r>
              <a:rPr lang="en-US" sz="2800" b="1">
                <a:solidFill>
                  <a:srgbClr val="2D3436"/>
                </a:solidFill>
                <a:latin typeface="#9Slide02 Noi dung dai" panose="02000000000000000000" pitchFamily="2" charset="0"/>
                <a:ea typeface="#9Slide02 Noi dung dai" panose="02000000000000000000" pitchFamily="2" charset="0"/>
                <a:cs typeface="DejaVu Math TeX Gyre" panose="02000503000000000000" pitchFamily="2" charset="0"/>
                <a:sym typeface="Lato"/>
              </a:rPr>
              <a:t>Câu hỏi: </a:t>
            </a:r>
            <a:r>
              <a:rPr lang="en-US" sz="2800" b="0">
                <a:solidFill>
                  <a:srgbClr val="2D3436"/>
                </a:solidFill>
                <a:latin typeface="#9Slide02 Noi dung dai" panose="02000000000000000000" pitchFamily="2" charset="0"/>
                <a:ea typeface="#9Slide02 Noi dung dai" panose="02000000000000000000" pitchFamily="2" charset="0"/>
                <a:cs typeface="DejaVu Math TeX Gyre" panose="02000503000000000000" pitchFamily="2" charset="0"/>
                <a:sym typeface="Lato"/>
              </a:rPr>
              <a:t>Nếu mang cây Xương rồng trồng dưới đáy biển hoặc mang </a:t>
            </a:r>
          </a:p>
          <a:p>
            <a:pPr marL="0" lvl="0" indent="0" rtl="0">
              <a:spcBef>
                <a:spcPts val="0"/>
              </a:spcBef>
              <a:spcAft>
                <a:spcPts val="0"/>
              </a:spcAft>
              <a:buNone/>
            </a:pPr>
            <a:r>
              <a:rPr lang="en-US" sz="2800" b="0">
                <a:solidFill>
                  <a:srgbClr val="2D3436"/>
                </a:solidFill>
                <a:latin typeface="#9Slide02 Noi dung dai" panose="02000000000000000000" pitchFamily="2" charset="0"/>
                <a:ea typeface="#9Slide02 Noi dung dai" panose="02000000000000000000" pitchFamily="2" charset="0"/>
                <a:cs typeface="DejaVu Math TeX Gyre" panose="02000503000000000000" pitchFamily="2" charset="0"/>
                <a:sym typeface="Lato"/>
              </a:rPr>
              <a:t>Cá mập lên sa mạc, điều gì sẽ xảy ra?</a:t>
            </a:r>
            <a:endParaRPr sz="2800" b="1">
              <a:solidFill>
                <a:srgbClr val="2D3436"/>
              </a:solidFill>
              <a:latin typeface="#9Slide02 Noi dung dai" panose="02000000000000000000" pitchFamily="2" charset="0"/>
              <a:ea typeface="#9Slide02 Noi dung dai" panose="02000000000000000000" pitchFamily="2" charset="0"/>
              <a:cs typeface="DejaVu Math TeX Gyre" panose="02000503000000000000" pitchFamily="2" charset="0"/>
              <a:sym typeface="Lato"/>
            </a:endParaRPr>
          </a:p>
        </p:txBody>
      </p:sp>
      <p:sp>
        <p:nvSpPr>
          <p:cNvPr id="124" name="Google Shape;124;p16"/>
          <p:cNvSpPr txBox="1"/>
          <p:nvPr/>
        </p:nvSpPr>
        <p:spPr>
          <a:xfrm>
            <a:off x="571500" y="6065725"/>
            <a:ext cx="11049000" cy="430887"/>
          </a:xfrm>
          <a:prstGeom prst="rect">
            <a:avLst/>
          </a:prstGeom>
          <a:solidFill>
            <a:srgbClr val="000000">
              <a:alpha val="0"/>
            </a:srgbClr>
          </a:solidFill>
          <a:ln>
            <a:noFill/>
          </a:ln>
        </p:spPr>
        <p:txBody>
          <a:bodyPr spcFirstLastPara="1" wrap="square" lIns="0" tIns="0" rIns="0" bIns="0" anchor="b" anchorCtr="0">
            <a:spAutoFit/>
          </a:bodyPr>
          <a:lstStyle/>
          <a:p>
            <a:pPr marL="0" lvl="0" indent="0" algn="ctr" rtl="0">
              <a:spcBef>
                <a:spcPts val="0"/>
              </a:spcBef>
              <a:spcAft>
                <a:spcPts val="0"/>
              </a:spcAft>
              <a:buNone/>
            </a:pPr>
            <a:r>
              <a:rPr lang="en-US" sz="2800" b="0">
                <a:solidFill>
                  <a:srgbClr val="0070C0"/>
                </a:solidFill>
                <a:latin typeface="#9Slide02 Noi dung dai" panose="02000000000000000000" pitchFamily="2" charset="0"/>
                <a:ea typeface="#9Slide02 Noi dung dai" panose="02000000000000000000" pitchFamily="2" charset="0"/>
                <a:cs typeface="DejaVu Math TeX Gyre" panose="02000503000000000000" pitchFamily="2" charset="0"/>
                <a:sym typeface="Lato"/>
              </a:rPr>
              <a:t>Em hãy suy nghĩ về sự tương tác giữa sinh vật và nơi ở của chúng.</a:t>
            </a:r>
            <a:endParaRPr sz="2800" b="0">
              <a:solidFill>
                <a:srgbClr val="0070C0"/>
              </a:solidFill>
              <a:latin typeface="#9Slide02 Noi dung dai" panose="02000000000000000000" pitchFamily="2" charset="0"/>
              <a:ea typeface="#9Slide02 Noi dung dai" panose="02000000000000000000" pitchFamily="2" charset="0"/>
              <a:cs typeface="DejaVu Math TeX Gyre" panose="02000503000000000000" pitchFamily="2" charset="0"/>
              <a:sym typeface="Lato"/>
            </a:endParaRPr>
          </a:p>
        </p:txBody>
      </p:sp>
      <mc:AlternateContent xmlns:mc="http://schemas.openxmlformats.org/markup-compatibility/2006">
        <mc:Choice xmlns:am3d="http://schemas.microsoft.com/office/drawing/2017/model3d" Requires="am3d">
          <p:graphicFrame>
            <p:nvGraphicFramePr>
              <p:cNvPr id="2" name="Kiểu 3D 1" descr="Swimming shark">
                <a:extLst>
                  <a:ext uri="{FF2B5EF4-FFF2-40B4-BE49-F238E27FC236}">
                    <a16:creationId xmlns:a16="http://schemas.microsoft.com/office/drawing/2014/main" id="{0708A370-03AF-A0BB-2475-5474AE31395C}"/>
                  </a:ext>
                </a:extLst>
              </p:cNvPr>
              <p:cNvGraphicFramePr>
                <a:graphicFrameLocks noChangeAspect="1"/>
              </p:cNvGraphicFramePr>
              <p:nvPr>
                <p:extLst>
                  <p:ext uri="{D42A27DB-BD31-4B8C-83A1-F6EECF244321}">
                    <p14:modId xmlns:p14="http://schemas.microsoft.com/office/powerpoint/2010/main" val="1377195934"/>
                  </p:ext>
                </p:extLst>
              </p:nvPr>
            </p:nvGraphicFramePr>
            <p:xfrm>
              <a:off x="2893724" y="2714121"/>
              <a:ext cx="5036200" cy="2281546"/>
            </p:xfrm>
            <a:graphic>
              <a:graphicData uri="http://schemas.microsoft.com/office/drawing/2017/model3d">
                <am3d:model3d r:embed="rId4">
                  <am3d:spPr>
                    <a:xfrm>
                      <a:off x="0" y="0"/>
                      <a:ext cx="5036200" cy="2281546"/>
                    </a:xfrm>
                    <a:prstGeom prst="rect">
                      <a:avLst/>
                    </a:prstGeom>
                  </am3d:spPr>
                  <am3d:camera>
                    <am3d:pos x="0" y="0" z="53993064"/>
                    <am3d:up dx="0" dy="36000000" dz="0"/>
                    <am3d:lookAt x="0" y="0" z="0"/>
                    <am3d:perspective fov="2700000"/>
                  </am3d:camera>
                  <am3d:trans>
                    <am3d:meterPerModelUnit n="58711" d="1000000"/>
                    <am3d:preTrans dx="-3893" dy="-5039232" dz="1084876"/>
                    <am3d:scale>
                      <am3d:sx n="1000000" d="1000000"/>
                      <am3d:sy n="1000000" d="1000000"/>
                      <am3d:sz n="1000000" d="1000000"/>
                    </am3d:scale>
                    <am3d:rot ax="-1037136" ay="4470464" az="-1001597"/>
                    <am3d:postTrans dx="0" dy="0" dz="0"/>
                  </am3d:trans>
                  <am3d:raster rName="Office3DRenderer" rVer="16.0.8326">
                    <am3d:blip r:embed="rId5"/>
                  </am3d:raster>
                  <am3d:extLst>
                    <a:ext uri="{9A65AA19-BECB-4387-8358-8AD5134E1D82}">
                      <a3danim:embedAnim xmlns:a3danim="http://schemas.microsoft.com/office/drawing/2018/animation/model3d" animId="0">
                        <a3danim:animPr length="1966" count="indefinite"/>
                      </a3danim:embedAnim>
                    </a:ext>
                    <a:ext uri="{E9DE012E-A134-456F-84FE-255F9AAD75C6}">
                      <a3danim:posterFrame xmlns:a3danim="http://schemas.microsoft.com/office/drawing/2018/animation/model3d" animId="0"/>
                    </a:ext>
                  </am3d:extLst>
                  <am3d:objViewport viewportSz="542833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Kiểu 3D 1" descr="Swimming shark">
                <a:extLst>
                  <a:ext uri="{FF2B5EF4-FFF2-40B4-BE49-F238E27FC236}">
                    <a16:creationId xmlns:a16="http://schemas.microsoft.com/office/drawing/2014/main" id="{0708A370-03AF-A0BB-2475-5474AE31395C}"/>
                  </a:ext>
                </a:extLst>
              </p:cNvPr>
              <p:cNvPicPr>
                <a:picLocks noGrp="1" noRot="1" noChangeAspect="1" noMove="1" noResize="1" noEditPoints="1" noAdjustHandles="1" noChangeArrowheads="1" noChangeShapeType="1" noCrop="1"/>
              </p:cNvPicPr>
              <p:nvPr/>
            </p:nvPicPr>
            <p:blipFill>
              <a:blip r:embed="rId5"/>
              <a:stretch>
                <a:fillRect/>
              </a:stretch>
            </p:blipFill>
            <p:spPr>
              <a:xfrm>
                <a:off x="2893724" y="2714121"/>
                <a:ext cx="5036200" cy="2281546"/>
              </a:xfrm>
              <a:prstGeom prst="rect">
                <a:avLst/>
              </a:prstGeom>
            </p:spPr>
          </p:pic>
        </mc:Fallback>
      </mc:AlternateContent>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0" presetClass="emph" presetSubtype="1" repeatCount="indefinite" fill="hold" nodeType="withEffect">
                                  <p:stCondLst>
                                    <p:cond delay="0"/>
                                  </p:stCondLst>
                                  <p:childTnLst>
                                    <p:anim calcmode="lin" valueType="num">
                                      <p:cBhvr>
                                        <p:cTn id="6" dur="1967" fill="hold"/>
                                        <p:tgtEl>
                                          <p:spTgt spid="2"/>
                                        </p:tgtEl>
                                        <p:attrNameLst>
                                          <p:attrName>embedded1</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35"/>
        <p:cNvGrpSpPr/>
        <p:nvPr/>
      </p:nvGrpSpPr>
      <p:grpSpPr>
        <a:xfrm>
          <a:off x="0" y="0"/>
          <a:ext cx="0" cy="0"/>
          <a:chOff x="0" y="0"/>
          <a:chExt cx="0" cy="0"/>
        </a:xfrm>
      </p:grpSpPr>
      <p:pic>
        <p:nvPicPr>
          <p:cNvPr id="136" name="Google Shape;136;p18" descr="image.png"/>
          <p:cNvPicPr preferRelativeResize="0"/>
          <p:nvPr/>
        </p:nvPicPr>
        <p:blipFill rotWithShape="1">
          <a:blip r:embed="rId3">
            <a:alphaModFix/>
          </a:blip>
          <a:srcRect/>
          <a:stretch/>
        </p:blipFill>
        <p:spPr>
          <a:xfrm>
            <a:off x="28575" y="0"/>
            <a:ext cx="12192000" cy="6858000"/>
          </a:xfrm>
          <a:prstGeom prst="rect">
            <a:avLst/>
          </a:prstGeom>
          <a:noFill/>
          <a:ln>
            <a:noFill/>
          </a:ln>
        </p:spPr>
      </p:pic>
      <p:pic>
        <p:nvPicPr>
          <p:cNvPr id="137" name="Google Shape;137;p18" descr="image.png"/>
          <p:cNvPicPr preferRelativeResize="0"/>
          <p:nvPr/>
        </p:nvPicPr>
        <p:blipFill rotWithShape="1">
          <a:blip r:embed="rId4">
            <a:alphaModFix/>
          </a:blip>
          <a:srcRect/>
          <a:stretch/>
        </p:blipFill>
        <p:spPr>
          <a:xfrm>
            <a:off x="571501" y="1347431"/>
            <a:ext cx="11048999" cy="2081569"/>
          </a:xfrm>
          <a:prstGeom prst="rect">
            <a:avLst/>
          </a:prstGeom>
          <a:noFill/>
          <a:ln>
            <a:noFill/>
          </a:ln>
        </p:spPr>
      </p:pic>
      <p:pic>
        <p:nvPicPr>
          <p:cNvPr id="138" name="Google Shape;138;p18" descr="image.png"/>
          <p:cNvPicPr preferRelativeResize="0"/>
          <p:nvPr/>
        </p:nvPicPr>
        <p:blipFill rotWithShape="1">
          <a:blip r:embed="rId5">
            <a:alphaModFix/>
          </a:blip>
          <a:srcRect/>
          <a:stretch/>
        </p:blipFill>
        <p:spPr>
          <a:xfrm>
            <a:off x="504825" y="3848727"/>
            <a:ext cx="11048999" cy="2253585"/>
          </a:xfrm>
          <a:prstGeom prst="rect">
            <a:avLst/>
          </a:prstGeom>
          <a:noFill/>
          <a:ln>
            <a:noFill/>
          </a:ln>
        </p:spPr>
      </p:pic>
      <p:sp>
        <p:nvSpPr>
          <p:cNvPr id="139" name="Google Shape;139;p18"/>
          <p:cNvSpPr txBox="1"/>
          <p:nvPr/>
        </p:nvSpPr>
        <p:spPr>
          <a:xfrm>
            <a:off x="762000" y="571500"/>
            <a:ext cx="11401425"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I. MÔI TRƯỜNG SỐNG LÀ GÌ?</a:t>
            </a:r>
            <a:endParaRPr sz="1600">
              <a:latin typeface="DejaVu Math TeX Gyre" panose="02000503000000000000" pitchFamily="2" charset="0"/>
              <a:ea typeface="DejaVu Math TeX Gyre" panose="02000503000000000000" pitchFamily="2" charset="0"/>
              <a:cs typeface="DejaVu Math TeX Gyre" panose="02000503000000000000" pitchFamily="2" charset="0"/>
            </a:endParaRPr>
          </a:p>
        </p:txBody>
      </p:sp>
      <p:sp>
        <p:nvSpPr>
          <p:cNvPr id="140" name="Google Shape;140;p18"/>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dk1"/>
              </a:solidFill>
              <a:latin typeface="DejaVu Math TeX Gyre" panose="02000503000000000000" pitchFamily="2" charset="0"/>
              <a:ea typeface="DejaVu Math TeX Gyre" panose="02000503000000000000" pitchFamily="2" charset="0"/>
              <a:cs typeface="DejaVu Math TeX Gyre" panose="02000503000000000000" pitchFamily="2" charset="0"/>
              <a:sym typeface="Calibri"/>
            </a:endParaRPr>
          </a:p>
        </p:txBody>
      </p:sp>
      <p:sp>
        <p:nvSpPr>
          <p:cNvPr id="141" name="Google Shape;141;p18"/>
          <p:cNvSpPr txBox="1"/>
          <p:nvPr/>
        </p:nvSpPr>
        <p:spPr>
          <a:xfrm>
            <a:off x="962024" y="1677745"/>
            <a:ext cx="4730591"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a:solidFill>
                  <a:srgbClr val="0070C0"/>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Định nghĩa</a:t>
            </a:r>
            <a:endParaRPr sz="1600">
              <a:solidFill>
                <a:srgbClr val="0070C0"/>
              </a:solidFill>
              <a:latin typeface="DejaVu Math TeX Gyre" panose="02000503000000000000" pitchFamily="2" charset="0"/>
              <a:ea typeface="DejaVu Math TeX Gyre" panose="02000503000000000000" pitchFamily="2" charset="0"/>
              <a:cs typeface="DejaVu Math TeX Gyre" panose="02000503000000000000" pitchFamily="2" charset="0"/>
            </a:endParaRPr>
          </a:p>
        </p:txBody>
      </p:sp>
      <p:sp>
        <p:nvSpPr>
          <p:cNvPr id="142" name="Google Shape;142;p18"/>
          <p:cNvSpPr txBox="1"/>
          <p:nvPr/>
        </p:nvSpPr>
        <p:spPr>
          <a:xfrm>
            <a:off x="1332071" y="2119192"/>
            <a:ext cx="9710177"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Là nơi sinh sống của sinh vật, bao gồm tất cả các yếu tố bao quanh, tác động trực tiếp hoặc gián tiếp đến chúng.</a:t>
            </a:r>
            <a:endParaRPr sz="1600">
              <a:latin typeface="DejaVu Math TeX Gyre" panose="02000503000000000000" pitchFamily="2" charset="0"/>
              <a:ea typeface="DejaVu Math TeX Gyre" panose="02000503000000000000" pitchFamily="2" charset="0"/>
              <a:cs typeface="DejaVu Math TeX Gyre" panose="02000503000000000000" pitchFamily="2" charset="0"/>
            </a:endParaRPr>
          </a:p>
        </p:txBody>
      </p:sp>
      <p:sp>
        <p:nvSpPr>
          <p:cNvPr id="143" name="Google Shape;143;p18"/>
          <p:cNvSpPr txBox="1"/>
          <p:nvPr/>
        </p:nvSpPr>
        <p:spPr>
          <a:xfrm>
            <a:off x="962023" y="4215229"/>
            <a:ext cx="4730591"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a:solidFill>
                  <a:srgbClr val="0070C0"/>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Vai trò</a:t>
            </a:r>
            <a:endParaRPr sz="1600">
              <a:solidFill>
                <a:srgbClr val="0070C0"/>
              </a:solidFill>
              <a:latin typeface="DejaVu Math TeX Gyre" panose="02000503000000000000" pitchFamily="2" charset="0"/>
              <a:ea typeface="DejaVu Math TeX Gyre" panose="02000503000000000000" pitchFamily="2" charset="0"/>
              <a:cs typeface="DejaVu Math TeX Gyre" panose="02000503000000000000" pitchFamily="2" charset="0"/>
            </a:endParaRPr>
          </a:p>
        </p:txBody>
      </p:sp>
      <p:sp>
        <p:nvSpPr>
          <p:cNvPr id="144" name="Google Shape;144;p18"/>
          <p:cNvSpPr txBox="1"/>
          <p:nvPr/>
        </p:nvSpPr>
        <p:spPr>
          <a:xfrm>
            <a:off x="1752789" y="4776431"/>
            <a:ext cx="8868740"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Cung cấp thức ăn, nơi ở, nhiệt độ, độ ẩm... giúp sinh vật tồn tại, sinh trưởng và phát triển.</a:t>
            </a:r>
            <a:endParaRPr sz="1600">
              <a:latin typeface="DejaVu Math TeX Gyre" panose="02000503000000000000" pitchFamily="2" charset="0"/>
              <a:ea typeface="DejaVu Math TeX Gyre" panose="02000503000000000000" pitchFamily="2" charset="0"/>
              <a:cs typeface="DejaVu Math TeX Gyre" panose="02000503000000000000" pitchFamily="2" charset="0"/>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48"/>
        <p:cNvGrpSpPr/>
        <p:nvPr/>
      </p:nvGrpSpPr>
      <p:grpSpPr>
        <a:xfrm>
          <a:off x="0" y="0"/>
          <a:ext cx="0" cy="0"/>
          <a:chOff x="0" y="0"/>
          <a:chExt cx="0" cy="0"/>
        </a:xfrm>
      </p:grpSpPr>
      <p:sp>
        <p:nvSpPr>
          <p:cNvPr id="154" name="Google Shape;154;p19"/>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4 LOẠI MÔI TRƯỜNG CHỦ YẾU</a:t>
            </a:r>
            <a:endParaRPr>
              <a:latin typeface="DejaVu Math TeX Gyre" panose="02000503000000000000" pitchFamily="2" charset="0"/>
              <a:ea typeface="DejaVu Math TeX Gyre" panose="02000503000000000000" pitchFamily="2" charset="0"/>
              <a:cs typeface="DejaVu Math TeX Gyre" panose="02000503000000000000" pitchFamily="2" charset="0"/>
            </a:endParaRPr>
          </a:p>
        </p:txBody>
      </p:sp>
      <p:sp>
        <p:nvSpPr>
          <p:cNvPr id="155" name="Google Shape;155;p19"/>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DejaVu Math TeX Gyre" panose="02000503000000000000" pitchFamily="2" charset="0"/>
              <a:ea typeface="DejaVu Math TeX Gyre" panose="02000503000000000000" pitchFamily="2" charset="0"/>
              <a:cs typeface="DejaVu Math TeX Gyre" panose="02000503000000000000" pitchFamily="2" charset="0"/>
              <a:sym typeface="Calibri"/>
            </a:endParaRPr>
          </a:p>
        </p:txBody>
      </p:sp>
      <p:sp>
        <p:nvSpPr>
          <p:cNvPr id="157" name="Google Shape;157;p19"/>
          <p:cNvSpPr txBox="1"/>
          <p:nvPr/>
        </p:nvSpPr>
        <p:spPr>
          <a:xfrm>
            <a:off x="4164763" y="1850262"/>
            <a:ext cx="5292465" cy="517065"/>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Mặt đất và lớp khí quyển.</a:t>
            </a:r>
            <a:endParaRPr sz="1600">
              <a:latin typeface="DejaVu Math TeX Gyre" panose="02000503000000000000" pitchFamily="2" charset="0"/>
              <a:ea typeface="DejaVu Math TeX Gyre" panose="02000503000000000000" pitchFamily="2" charset="0"/>
              <a:cs typeface="DejaVu Math TeX Gyre" panose="02000503000000000000" pitchFamily="2" charset="0"/>
            </a:endParaRPr>
          </a:p>
        </p:txBody>
      </p:sp>
      <p:sp>
        <p:nvSpPr>
          <p:cNvPr id="159" name="Google Shape;159;p19"/>
          <p:cNvSpPr txBox="1"/>
          <p:nvPr/>
        </p:nvSpPr>
        <p:spPr>
          <a:xfrm>
            <a:off x="4352900" y="2984510"/>
            <a:ext cx="4718008" cy="517065"/>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Nước ngọt, mặn, lợ.</a:t>
            </a:r>
            <a:endParaRPr sz="1600">
              <a:latin typeface="DejaVu Math TeX Gyre" panose="02000503000000000000" pitchFamily="2" charset="0"/>
              <a:ea typeface="DejaVu Math TeX Gyre" panose="02000503000000000000" pitchFamily="2" charset="0"/>
              <a:cs typeface="DejaVu Math TeX Gyre" panose="02000503000000000000" pitchFamily="2" charset="0"/>
            </a:endParaRPr>
          </a:p>
        </p:txBody>
      </p:sp>
      <p:sp>
        <p:nvSpPr>
          <p:cNvPr id="161" name="Google Shape;161;p19"/>
          <p:cNvSpPr txBox="1"/>
          <p:nvPr/>
        </p:nvSpPr>
        <p:spPr>
          <a:xfrm>
            <a:off x="4352900" y="3906170"/>
            <a:ext cx="5409405" cy="517065"/>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Vật chủ làm nơi ở.</a:t>
            </a:r>
            <a:endParaRPr sz="1600">
              <a:latin typeface="DejaVu Math TeX Gyre" panose="02000503000000000000" pitchFamily="2" charset="0"/>
              <a:ea typeface="DejaVu Math TeX Gyre" panose="02000503000000000000" pitchFamily="2" charset="0"/>
              <a:cs typeface="DejaVu Math TeX Gyre" panose="02000503000000000000" pitchFamily="2" charset="0"/>
            </a:endParaRPr>
          </a:p>
        </p:txBody>
      </p:sp>
      <p:grpSp>
        <p:nvGrpSpPr>
          <p:cNvPr id="3" name="Nhóm 2">
            <a:extLst>
              <a:ext uri="{FF2B5EF4-FFF2-40B4-BE49-F238E27FC236}">
                <a16:creationId xmlns:a16="http://schemas.microsoft.com/office/drawing/2014/main" id="{C56DDE93-9C59-A64D-98F3-871E0DC0B02D}"/>
              </a:ext>
            </a:extLst>
          </p:cNvPr>
          <p:cNvGrpSpPr/>
          <p:nvPr/>
        </p:nvGrpSpPr>
        <p:grpSpPr>
          <a:xfrm>
            <a:off x="944921" y="1837974"/>
            <a:ext cx="10757198" cy="775231"/>
            <a:chOff x="1040171" y="1892637"/>
            <a:chExt cx="10757198" cy="775231"/>
          </a:xfrm>
        </p:grpSpPr>
        <p:pic>
          <p:nvPicPr>
            <p:cNvPr id="152" name="Google Shape;152;p19" descr="image.png"/>
            <p:cNvPicPr preferRelativeResize="0"/>
            <p:nvPr/>
          </p:nvPicPr>
          <p:blipFill rotWithShape="1">
            <a:blip r:embed="rId3">
              <a:alphaModFix/>
            </a:blip>
            <a:srcRect/>
            <a:stretch/>
          </p:blipFill>
          <p:spPr>
            <a:xfrm>
              <a:off x="9249432" y="1892637"/>
              <a:ext cx="2547937" cy="775231"/>
            </a:xfrm>
            <a:prstGeom prst="rect">
              <a:avLst/>
            </a:prstGeom>
            <a:noFill/>
            <a:ln>
              <a:noFill/>
            </a:ln>
          </p:spPr>
        </p:pic>
        <p:sp>
          <p:nvSpPr>
            <p:cNvPr id="156" name="Google Shape;156;p19"/>
            <p:cNvSpPr txBox="1"/>
            <p:nvPr/>
          </p:nvSpPr>
          <p:spPr>
            <a:xfrm>
              <a:off x="1040171" y="1914232"/>
              <a:ext cx="2075259"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Trên cạn</a:t>
              </a:r>
              <a:endParaRPr>
                <a:latin typeface="DejaVu Math TeX Gyre" panose="02000503000000000000" pitchFamily="2" charset="0"/>
                <a:ea typeface="DejaVu Math TeX Gyre" panose="02000503000000000000" pitchFamily="2" charset="0"/>
                <a:cs typeface="DejaVu Math TeX Gyre" panose="02000503000000000000" pitchFamily="2" charset="0"/>
              </a:endParaRPr>
            </a:p>
          </p:txBody>
        </p:sp>
      </p:grpSp>
      <p:grpSp>
        <p:nvGrpSpPr>
          <p:cNvPr id="2" name="Nhóm 1">
            <a:extLst>
              <a:ext uri="{FF2B5EF4-FFF2-40B4-BE49-F238E27FC236}">
                <a16:creationId xmlns:a16="http://schemas.microsoft.com/office/drawing/2014/main" id="{6EA2DCD4-9786-51E8-C297-91467D4AB8C9}"/>
              </a:ext>
            </a:extLst>
          </p:cNvPr>
          <p:cNvGrpSpPr/>
          <p:nvPr/>
        </p:nvGrpSpPr>
        <p:grpSpPr>
          <a:xfrm>
            <a:off x="870713" y="3079577"/>
            <a:ext cx="10831405" cy="713642"/>
            <a:chOff x="4025338" y="1984918"/>
            <a:chExt cx="10831405" cy="713642"/>
          </a:xfrm>
        </p:grpSpPr>
        <p:pic>
          <p:nvPicPr>
            <p:cNvPr id="153" name="Google Shape;153;p19" descr="image.png"/>
            <p:cNvPicPr preferRelativeResize="0"/>
            <p:nvPr/>
          </p:nvPicPr>
          <p:blipFill rotWithShape="1">
            <a:blip r:embed="rId4">
              <a:alphaModFix/>
            </a:blip>
            <a:srcRect/>
            <a:stretch/>
          </p:blipFill>
          <p:spPr>
            <a:xfrm>
              <a:off x="12308806" y="1984918"/>
              <a:ext cx="2547937" cy="713642"/>
            </a:xfrm>
            <a:prstGeom prst="rect">
              <a:avLst/>
            </a:prstGeom>
            <a:noFill/>
            <a:ln>
              <a:noFill/>
            </a:ln>
          </p:spPr>
        </p:pic>
        <p:sp>
          <p:nvSpPr>
            <p:cNvPr id="158" name="Google Shape;158;p19"/>
            <p:cNvSpPr txBox="1"/>
            <p:nvPr/>
          </p:nvSpPr>
          <p:spPr>
            <a:xfrm>
              <a:off x="4025338" y="1984918"/>
              <a:ext cx="2075259"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Dưới nước</a:t>
              </a:r>
              <a:endParaRPr>
                <a:latin typeface="DejaVu Math TeX Gyre" panose="02000503000000000000" pitchFamily="2" charset="0"/>
                <a:ea typeface="DejaVu Math TeX Gyre" panose="02000503000000000000" pitchFamily="2" charset="0"/>
                <a:cs typeface="DejaVu Math TeX Gyre" panose="02000503000000000000" pitchFamily="2" charset="0"/>
              </a:endParaRPr>
            </a:p>
          </p:txBody>
        </p:sp>
      </p:grpSp>
      <p:grpSp>
        <p:nvGrpSpPr>
          <p:cNvPr id="4" name="Nhóm 3">
            <a:extLst>
              <a:ext uri="{FF2B5EF4-FFF2-40B4-BE49-F238E27FC236}">
                <a16:creationId xmlns:a16="http://schemas.microsoft.com/office/drawing/2014/main" id="{5C43CC79-0CD1-8206-8F9A-3108045F06A8}"/>
              </a:ext>
            </a:extLst>
          </p:cNvPr>
          <p:cNvGrpSpPr/>
          <p:nvPr/>
        </p:nvGrpSpPr>
        <p:grpSpPr>
          <a:xfrm>
            <a:off x="944921" y="4053903"/>
            <a:ext cx="10757197" cy="887297"/>
            <a:chOff x="6728781" y="1804852"/>
            <a:chExt cx="10757197" cy="887297"/>
          </a:xfrm>
        </p:grpSpPr>
        <p:pic>
          <p:nvPicPr>
            <p:cNvPr id="151" name="Google Shape;151;p19" descr="image.png"/>
            <p:cNvPicPr preferRelativeResize="0"/>
            <p:nvPr/>
          </p:nvPicPr>
          <p:blipFill rotWithShape="1">
            <a:blip r:embed="rId4">
              <a:alphaModFix/>
            </a:blip>
            <a:srcRect/>
            <a:stretch/>
          </p:blipFill>
          <p:spPr>
            <a:xfrm>
              <a:off x="14938041" y="1978507"/>
              <a:ext cx="2547937" cy="713642"/>
            </a:xfrm>
            <a:prstGeom prst="rect">
              <a:avLst/>
            </a:prstGeom>
            <a:noFill/>
            <a:ln>
              <a:noFill/>
            </a:ln>
          </p:spPr>
        </p:pic>
        <p:sp>
          <p:nvSpPr>
            <p:cNvPr id="160" name="Google Shape;160;p19"/>
            <p:cNvSpPr txBox="1"/>
            <p:nvPr/>
          </p:nvSpPr>
          <p:spPr>
            <a:xfrm>
              <a:off x="6728781" y="1804852"/>
              <a:ext cx="2075259"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Sinh vật</a:t>
              </a:r>
              <a:endParaRPr>
                <a:latin typeface="DejaVu Math TeX Gyre" panose="02000503000000000000" pitchFamily="2" charset="0"/>
                <a:ea typeface="DejaVu Math TeX Gyre" panose="02000503000000000000" pitchFamily="2" charset="0"/>
                <a:cs typeface="DejaVu Math TeX Gyre" panose="02000503000000000000" pitchFamily="2" charset="0"/>
              </a:endParaRPr>
            </a:p>
          </p:txBody>
        </p:sp>
      </p:grpSp>
      <p:grpSp>
        <p:nvGrpSpPr>
          <p:cNvPr id="5" name="Nhóm 4">
            <a:extLst>
              <a:ext uri="{FF2B5EF4-FFF2-40B4-BE49-F238E27FC236}">
                <a16:creationId xmlns:a16="http://schemas.microsoft.com/office/drawing/2014/main" id="{C0033684-2F41-6A62-C824-6FAEBD68EA0D}"/>
              </a:ext>
            </a:extLst>
          </p:cNvPr>
          <p:cNvGrpSpPr/>
          <p:nvPr/>
        </p:nvGrpSpPr>
        <p:grpSpPr>
          <a:xfrm>
            <a:off x="920315" y="5359869"/>
            <a:ext cx="10698530" cy="775231"/>
            <a:chOff x="9371966" y="1957201"/>
            <a:chExt cx="10698530" cy="775231"/>
          </a:xfrm>
        </p:grpSpPr>
        <p:pic>
          <p:nvPicPr>
            <p:cNvPr id="150" name="Google Shape;150;p19" descr="image.png"/>
            <p:cNvPicPr preferRelativeResize="0"/>
            <p:nvPr/>
          </p:nvPicPr>
          <p:blipFill rotWithShape="1">
            <a:blip r:embed="rId3">
              <a:alphaModFix/>
            </a:blip>
            <a:srcRect/>
            <a:stretch/>
          </p:blipFill>
          <p:spPr>
            <a:xfrm>
              <a:off x="17522559" y="1957201"/>
              <a:ext cx="2547937" cy="775231"/>
            </a:xfrm>
            <a:prstGeom prst="rect">
              <a:avLst/>
            </a:prstGeom>
            <a:noFill/>
            <a:ln>
              <a:noFill/>
            </a:ln>
          </p:spPr>
        </p:pic>
        <p:sp>
          <p:nvSpPr>
            <p:cNvPr id="162" name="Google Shape;162;p19"/>
            <p:cNvSpPr txBox="1"/>
            <p:nvPr/>
          </p:nvSpPr>
          <p:spPr>
            <a:xfrm>
              <a:off x="9371966" y="1962733"/>
              <a:ext cx="2075259"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Trong đất</a:t>
              </a:r>
              <a:endParaRPr>
                <a:latin typeface="DejaVu Math TeX Gyre" panose="02000503000000000000" pitchFamily="2" charset="0"/>
                <a:ea typeface="DejaVu Math TeX Gyre" panose="02000503000000000000" pitchFamily="2" charset="0"/>
                <a:cs typeface="DejaVu Math TeX Gyre" panose="02000503000000000000" pitchFamily="2" charset="0"/>
              </a:endParaRPr>
            </a:p>
          </p:txBody>
        </p:sp>
      </p:grpSp>
      <p:sp>
        <p:nvSpPr>
          <p:cNvPr id="163" name="Google Shape;163;p19"/>
          <p:cNvSpPr txBox="1"/>
          <p:nvPr/>
        </p:nvSpPr>
        <p:spPr>
          <a:xfrm>
            <a:off x="4352900" y="5101337"/>
            <a:ext cx="3191040" cy="517065"/>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Các lớp đất sâu.</a:t>
            </a:r>
            <a:endParaRPr sz="1600">
              <a:latin typeface="DejaVu Math TeX Gyre" panose="02000503000000000000" pitchFamily="2" charset="0"/>
              <a:ea typeface="DejaVu Math TeX Gyre" panose="02000503000000000000" pitchFamily="2" charset="0"/>
              <a:cs typeface="DejaVu Math TeX Gyre" panose="02000503000000000000" pitchFamily="2" charset="0"/>
            </a:endParaRPr>
          </a:p>
        </p:txBody>
      </p:sp>
      <p:pic>
        <p:nvPicPr>
          <p:cNvPr id="164" name="Google Shape;164;p19" descr="image.png"/>
          <p:cNvPicPr preferRelativeResize="0"/>
          <p:nvPr/>
        </p:nvPicPr>
        <p:blipFill rotWithShape="1">
          <a:blip r:embed="rId5">
            <a:alphaModFix/>
          </a:blip>
          <a:srcRect/>
          <a:stretch/>
        </p:blipFill>
        <p:spPr>
          <a:xfrm>
            <a:off x="-1155964" y="2671543"/>
            <a:ext cx="571500" cy="571500"/>
          </a:xfrm>
          <a:prstGeom prst="rect">
            <a:avLst/>
          </a:prstGeom>
          <a:noFill/>
          <a:ln>
            <a:noFill/>
          </a:ln>
        </p:spPr>
      </p:pic>
      <p:pic>
        <p:nvPicPr>
          <p:cNvPr id="165" name="Google Shape;165;p19" descr="image.png"/>
          <p:cNvPicPr preferRelativeResize="0"/>
          <p:nvPr/>
        </p:nvPicPr>
        <p:blipFill rotWithShape="1">
          <a:blip r:embed="rId6">
            <a:alphaModFix/>
          </a:blip>
          <a:srcRect/>
          <a:stretch/>
        </p:blipFill>
        <p:spPr>
          <a:xfrm>
            <a:off x="-1266619" y="787316"/>
            <a:ext cx="647700" cy="571500"/>
          </a:xfrm>
          <a:prstGeom prst="rect">
            <a:avLst/>
          </a:prstGeom>
          <a:noFill/>
          <a:ln>
            <a:noFill/>
          </a:ln>
        </p:spPr>
      </p:pic>
      <p:pic>
        <p:nvPicPr>
          <p:cNvPr id="166" name="Google Shape;166;p19" descr="image.png"/>
          <p:cNvPicPr preferRelativeResize="0"/>
          <p:nvPr/>
        </p:nvPicPr>
        <p:blipFill rotWithShape="1">
          <a:blip r:embed="rId7">
            <a:alphaModFix/>
          </a:blip>
          <a:srcRect/>
          <a:stretch/>
        </p:blipFill>
        <p:spPr>
          <a:xfrm>
            <a:off x="-1123744" y="1808506"/>
            <a:ext cx="504825" cy="571500"/>
          </a:xfrm>
          <a:prstGeom prst="rect">
            <a:avLst/>
          </a:prstGeom>
          <a:noFill/>
          <a:ln>
            <a:noFill/>
          </a:ln>
        </p:spPr>
      </p:pic>
      <p:pic>
        <p:nvPicPr>
          <p:cNvPr id="167" name="Google Shape;167;p19" descr="image.png"/>
          <p:cNvPicPr preferRelativeResize="0"/>
          <p:nvPr/>
        </p:nvPicPr>
        <p:blipFill rotWithShape="1">
          <a:blip r:embed="rId8">
            <a:alphaModFix/>
          </a:blip>
          <a:srcRect/>
          <a:stretch/>
        </p:blipFill>
        <p:spPr>
          <a:xfrm>
            <a:off x="-1269107" y="3692733"/>
            <a:ext cx="571500" cy="571500"/>
          </a:xfrm>
          <a:prstGeom prst="rect">
            <a:avLst/>
          </a:prstGeom>
          <a:noFill/>
          <a:ln>
            <a:noFill/>
          </a:ln>
        </p:spPr>
      </p:pic>
      <p:grpSp>
        <p:nvGrpSpPr>
          <p:cNvPr id="7" name="Nhóm 6">
            <a:extLst>
              <a:ext uri="{FF2B5EF4-FFF2-40B4-BE49-F238E27FC236}">
                <a16:creationId xmlns:a16="http://schemas.microsoft.com/office/drawing/2014/main" id="{0197F2DC-2024-51E0-06F3-C4B7CC1EDE4B}"/>
              </a:ext>
            </a:extLst>
          </p:cNvPr>
          <p:cNvGrpSpPr/>
          <p:nvPr/>
        </p:nvGrpSpPr>
        <p:grpSpPr>
          <a:xfrm>
            <a:off x="12555266" y="892117"/>
            <a:ext cx="2601356" cy="4204400"/>
            <a:chOff x="803831" y="1733283"/>
            <a:chExt cx="2601356" cy="4204400"/>
          </a:xfrm>
        </p:grpSpPr>
        <p:grpSp>
          <p:nvGrpSpPr>
            <p:cNvPr id="8" name="Nhóm 7">
              <a:extLst>
                <a:ext uri="{FF2B5EF4-FFF2-40B4-BE49-F238E27FC236}">
                  <a16:creationId xmlns:a16="http://schemas.microsoft.com/office/drawing/2014/main" id="{5143C314-B0D2-BB0C-EBC5-D46E535F569C}"/>
                </a:ext>
              </a:extLst>
            </p:cNvPr>
            <p:cNvGrpSpPr/>
            <p:nvPr/>
          </p:nvGrpSpPr>
          <p:grpSpPr>
            <a:xfrm>
              <a:off x="857250" y="1733283"/>
              <a:ext cx="2547937" cy="775231"/>
              <a:chOff x="857250" y="1733283"/>
              <a:chExt cx="2547937" cy="775231"/>
            </a:xfrm>
          </p:grpSpPr>
          <p:pic>
            <p:nvPicPr>
              <p:cNvPr id="18" name="Google Shape;152;p19" descr="image.png">
                <a:extLst>
                  <a:ext uri="{FF2B5EF4-FFF2-40B4-BE49-F238E27FC236}">
                    <a16:creationId xmlns:a16="http://schemas.microsoft.com/office/drawing/2014/main" id="{47638F61-161A-5A43-6E77-63128534BB06}"/>
                  </a:ext>
                </a:extLst>
              </p:cNvPr>
              <p:cNvPicPr preferRelativeResize="0"/>
              <p:nvPr/>
            </p:nvPicPr>
            <p:blipFill rotWithShape="1">
              <a:blip r:embed="rId3">
                <a:alphaModFix/>
              </a:blip>
              <a:srcRect/>
              <a:stretch/>
            </p:blipFill>
            <p:spPr>
              <a:xfrm>
                <a:off x="857250" y="1733283"/>
                <a:ext cx="2547937" cy="775231"/>
              </a:xfrm>
              <a:prstGeom prst="rect">
                <a:avLst/>
              </a:prstGeom>
              <a:noFill/>
              <a:ln>
                <a:noFill/>
              </a:ln>
            </p:spPr>
          </p:pic>
          <p:sp>
            <p:nvSpPr>
              <p:cNvPr id="19" name="Google Shape;156;p19">
                <a:extLst>
                  <a:ext uri="{FF2B5EF4-FFF2-40B4-BE49-F238E27FC236}">
                    <a16:creationId xmlns:a16="http://schemas.microsoft.com/office/drawing/2014/main" id="{57D48D9F-D315-EAEE-0BC2-750E0B66E759}"/>
                  </a:ext>
                </a:extLst>
              </p:cNvPr>
              <p:cNvSpPr txBox="1"/>
              <p:nvPr/>
            </p:nvSpPr>
            <p:spPr>
              <a:xfrm>
                <a:off x="1040171" y="1914232"/>
                <a:ext cx="2075259"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Trên cạn</a:t>
                </a:r>
                <a:endParaRPr>
                  <a:latin typeface="DejaVu Math TeX Gyre" panose="02000503000000000000" pitchFamily="2" charset="0"/>
                  <a:ea typeface="DejaVu Math TeX Gyre" panose="02000503000000000000" pitchFamily="2" charset="0"/>
                  <a:cs typeface="DejaVu Math TeX Gyre" panose="02000503000000000000" pitchFamily="2" charset="0"/>
                </a:endParaRPr>
              </a:p>
            </p:txBody>
          </p:sp>
        </p:grpSp>
        <p:grpSp>
          <p:nvGrpSpPr>
            <p:cNvPr id="9" name="Nhóm 8">
              <a:extLst>
                <a:ext uri="{FF2B5EF4-FFF2-40B4-BE49-F238E27FC236}">
                  <a16:creationId xmlns:a16="http://schemas.microsoft.com/office/drawing/2014/main" id="{6E98C292-5EB4-0368-0A96-4BF1CAA8236D}"/>
                </a:ext>
              </a:extLst>
            </p:cNvPr>
            <p:cNvGrpSpPr/>
            <p:nvPr/>
          </p:nvGrpSpPr>
          <p:grpSpPr>
            <a:xfrm>
              <a:off x="803831" y="2925396"/>
              <a:ext cx="2547937" cy="713642"/>
              <a:chOff x="3799392" y="1794872"/>
              <a:chExt cx="2547937" cy="713642"/>
            </a:xfrm>
          </p:grpSpPr>
          <p:pic>
            <p:nvPicPr>
              <p:cNvPr id="16" name="Google Shape;153;p19" descr="image.png">
                <a:extLst>
                  <a:ext uri="{FF2B5EF4-FFF2-40B4-BE49-F238E27FC236}">
                    <a16:creationId xmlns:a16="http://schemas.microsoft.com/office/drawing/2014/main" id="{5C1CB6A4-977D-38C1-B9AA-013AABD720D4}"/>
                  </a:ext>
                </a:extLst>
              </p:cNvPr>
              <p:cNvPicPr preferRelativeResize="0"/>
              <p:nvPr/>
            </p:nvPicPr>
            <p:blipFill rotWithShape="1">
              <a:blip r:embed="rId4">
                <a:alphaModFix/>
              </a:blip>
              <a:srcRect/>
              <a:stretch/>
            </p:blipFill>
            <p:spPr>
              <a:xfrm>
                <a:off x="3799392" y="1794872"/>
                <a:ext cx="2547937" cy="713642"/>
              </a:xfrm>
              <a:prstGeom prst="rect">
                <a:avLst/>
              </a:prstGeom>
              <a:noFill/>
              <a:ln>
                <a:noFill/>
              </a:ln>
            </p:spPr>
          </p:pic>
          <p:sp>
            <p:nvSpPr>
              <p:cNvPr id="17" name="Google Shape;158;p19">
                <a:extLst>
                  <a:ext uri="{FF2B5EF4-FFF2-40B4-BE49-F238E27FC236}">
                    <a16:creationId xmlns:a16="http://schemas.microsoft.com/office/drawing/2014/main" id="{14312AA7-E6D0-3F3E-AB31-D29F67106F4C}"/>
                  </a:ext>
                </a:extLst>
              </p:cNvPr>
              <p:cNvSpPr txBox="1"/>
              <p:nvPr/>
            </p:nvSpPr>
            <p:spPr>
              <a:xfrm>
                <a:off x="4020741" y="1936232"/>
                <a:ext cx="2075259"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Dưới nước</a:t>
                </a:r>
                <a:endParaRPr>
                  <a:latin typeface="DejaVu Math TeX Gyre" panose="02000503000000000000" pitchFamily="2" charset="0"/>
                  <a:ea typeface="DejaVu Math TeX Gyre" panose="02000503000000000000" pitchFamily="2" charset="0"/>
                  <a:cs typeface="DejaVu Math TeX Gyre" panose="02000503000000000000" pitchFamily="2" charset="0"/>
                </a:endParaRPr>
              </a:p>
            </p:txBody>
          </p:sp>
        </p:grpSp>
        <p:grpSp>
          <p:nvGrpSpPr>
            <p:cNvPr id="10" name="Nhóm 9">
              <a:extLst>
                <a:ext uri="{FF2B5EF4-FFF2-40B4-BE49-F238E27FC236}">
                  <a16:creationId xmlns:a16="http://schemas.microsoft.com/office/drawing/2014/main" id="{DA58DA63-BF2D-2F79-401A-7023C63B7E33}"/>
                </a:ext>
              </a:extLst>
            </p:cNvPr>
            <p:cNvGrpSpPr/>
            <p:nvPr/>
          </p:nvGrpSpPr>
          <p:grpSpPr>
            <a:xfrm>
              <a:off x="803831" y="4043924"/>
              <a:ext cx="2547937" cy="713642"/>
              <a:chOff x="6587691" y="1794873"/>
              <a:chExt cx="2547937" cy="713642"/>
            </a:xfrm>
          </p:grpSpPr>
          <p:pic>
            <p:nvPicPr>
              <p:cNvPr id="14" name="Google Shape;151;p19" descr="image.png">
                <a:extLst>
                  <a:ext uri="{FF2B5EF4-FFF2-40B4-BE49-F238E27FC236}">
                    <a16:creationId xmlns:a16="http://schemas.microsoft.com/office/drawing/2014/main" id="{895814F1-CFF0-E63B-0686-D768CA51589D}"/>
                  </a:ext>
                </a:extLst>
              </p:cNvPr>
              <p:cNvPicPr preferRelativeResize="0"/>
              <p:nvPr/>
            </p:nvPicPr>
            <p:blipFill rotWithShape="1">
              <a:blip r:embed="rId4">
                <a:alphaModFix/>
              </a:blip>
              <a:srcRect/>
              <a:stretch/>
            </p:blipFill>
            <p:spPr>
              <a:xfrm>
                <a:off x="6587691" y="1794873"/>
                <a:ext cx="2547937" cy="713642"/>
              </a:xfrm>
              <a:prstGeom prst="rect">
                <a:avLst/>
              </a:prstGeom>
              <a:noFill/>
              <a:ln>
                <a:noFill/>
              </a:ln>
            </p:spPr>
          </p:pic>
          <p:sp>
            <p:nvSpPr>
              <p:cNvPr id="15" name="Google Shape;160;p19">
                <a:extLst>
                  <a:ext uri="{FF2B5EF4-FFF2-40B4-BE49-F238E27FC236}">
                    <a16:creationId xmlns:a16="http://schemas.microsoft.com/office/drawing/2014/main" id="{2CBC14AE-8749-F7F0-EC19-6E76CB3894ED}"/>
                  </a:ext>
                </a:extLst>
              </p:cNvPr>
              <p:cNvSpPr txBox="1"/>
              <p:nvPr/>
            </p:nvSpPr>
            <p:spPr>
              <a:xfrm>
                <a:off x="6824029" y="1962733"/>
                <a:ext cx="2075259"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Sinh vật</a:t>
                </a:r>
                <a:endParaRPr>
                  <a:latin typeface="DejaVu Math TeX Gyre" panose="02000503000000000000" pitchFamily="2" charset="0"/>
                  <a:ea typeface="DejaVu Math TeX Gyre" panose="02000503000000000000" pitchFamily="2" charset="0"/>
                  <a:cs typeface="DejaVu Math TeX Gyre" panose="02000503000000000000" pitchFamily="2" charset="0"/>
                </a:endParaRPr>
              </a:p>
            </p:txBody>
          </p:sp>
        </p:grpSp>
        <p:grpSp>
          <p:nvGrpSpPr>
            <p:cNvPr id="11" name="Nhóm 10">
              <a:extLst>
                <a:ext uri="{FF2B5EF4-FFF2-40B4-BE49-F238E27FC236}">
                  <a16:creationId xmlns:a16="http://schemas.microsoft.com/office/drawing/2014/main" id="{AD3E7C1E-24DF-2105-521D-B2A2E9F26079}"/>
                </a:ext>
              </a:extLst>
            </p:cNvPr>
            <p:cNvGrpSpPr/>
            <p:nvPr/>
          </p:nvGrpSpPr>
          <p:grpSpPr>
            <a:xfrm>
              <a:off x="857250" y="5162452"/>
              <a:ext cx="2547937" cy="775231"/>
              <a:chOff x="9308901" y="1759784"/>
              <a:chExt cx="2547937" cy="775231"/>
            </a:xfrm>
          </p:grpSpPr>
          <p:pic>
            <p:nvPicPr>
              <p:cNvPr id="12" name="Google Shape;150;p19" descr="image.png">
                <a:extLst>
                  <a:ext uri="{FF2B5EF4-FFF2-40B4-BE49-F238E27FC236}">
                    <a16:creationId xmlns:a16="http://schemas.microsoft.com/office/drawing/2014/main" id="{EE4D2282-313F-DAC7-6BF3-1C0A8DCF6A92}"/>
                  </a:ext>
                </a:extLst>
              </p:cNvPr>
              <p:cNvPicPr preferRelativeResize="0"/>
              <p:nvPr/>
            </p:nvPicPr>
            <p:blipFill rotWithShape="1">
              <a:blip r:embed="rId3">
                <a:alphaModFix/>
              </a:blip>
              <a:srcRect/>
              <a:stretch/>
            </p:blipFill>
            <p:spPr>
              <a:xfrm>
                <a:off x="9308901" y="1759784"/>
                <a:ext cx="2547937" cy="775231"/>
              </a:xfrm>
              <a:prstGeom prst="rect">
                <a:avLst/>
              </a:prstGeom>
              <a:noFill/>
              <a:ln>
                <a:noFill/>
              </a:ln>
            </p:spPr>
          </p:pic>
          <p:sp>
            <p:nvSpPr>
              <p:cNvPr id="13" name="Google Shape;162;p19">
                <a:extLst>
                  <a:ext uri="{FF2B5EF4-FFF2-40B4-BE49-F238E27FC236}">
                    <a16:creationId xmlns:a16="http://schemas.microsoft.com/office/drawing/2014/main" id="{2D019CBC-A7F4-4D08-9941-CF4540EC255B}"/>
                  </a:ext>
                </a:extLst>
              </p:cNvPr>
              <p:cNvSpPr txBox="1"/>
              <p:nvPr/>
            </p:nvSpPr>
            <p:spPr>
              <a:xfrm>
                <a:off x="9371966" y="1962733"/>
                <a:ext cx="2075259"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B4332"/>
                    </a:solidFill>
                    <a:latin typeface="DejaVu Math TeX Gyre" panose="02000503000000000000" pitchFamily="2" charset="0"/>
                    <a:ea typeface="DejaVu Math TeX Gyre" panose="02000503000000000000" pitchFamily="2" charset="0"/>
                    <a:cs typeface="DejaVu Math TeX Gyre" panose="02000503000000000000" pitchFamily="2" charset="0"/>
                    <a:sym typeface="Poppins"/>
                  </a:rPr>
                  <a:t>Trong đất</a:t>
                </a:r>
                <a:endParaRPr>
                  <a:latin typeface="DejaVu Math TeX Gyre" panose="02000503000000000000" pitchFamily="2" charset="0"/>
                  <a:ea typeface="DejaVu Math TeX Gyre" panose="02000503000000000000" pitchFamily="2" charset="0"/>
                  <a:cs typeface="DejaVu Math TeX Gyre" panose="02000503000000000000" pitchFamily="2" charset="0"/>
                </a:endParaRPr>
              </a:p>
            </p:txBody>
          </p:sp>
        </p:grpSp>
      </p:gr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71"/>
        <p:cNvGrpSpPr/>
        <p:nvPr/>
      </p:nvGrpSpPr>
      <p:grpSpPr>
        <a:xfrm>
          <a:off x="0" y="0"/>
          <a:ext cx="0" cy="0"/>
          <a:chOff x="0" y="0"/>
          <a:chExt cx="0" cy="0"/>
        </a:xfrm>
      </p:grpSpPr>
      <p:pic>
        <p:nvPicPr>
          <p:cNvPr id="172" name="Google Shape;172;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3" name="Google Shape;173;p20"/>
          <p:cNvSpPr txBox="1"/>
          <p:nvPr/>
        </p:nvSpPr>
        <p:spPr>
          <a:xfrm>
            <a:off x="762000" y="571500"/>
            <a:ext cx="50006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MÔI TRƯỜNG TRÊN CẠN</a:t>
            </a:r>
            <a:endParaRPr/>
          </a:p>
        </p:txBody>
      </p:sp>
      <p:sp>
        <p:nvSpPr>
          <p:cNvPr id="174" name="Google Shape;174;p20"/>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6" name="Google Shape;176;p20"/>
          <p:cNvSpPr txBox="1"/>
          <p:nvPr/>
        </p:nvSpPr>
        <p:spPr>
          <a:xfrm>
            <a:off x="723900" y="1424234"/>
            <a:ext cx="11036300" cy="984885"/>
          </a:xfrm>
          <a:prstGeom prst="rect">
            <a:avLst/>
          </a:prstGeom>
          <a:solidFill>
            <a:schemeClr val="accent3">
              <a:lumMod val="40000"/>
              <a:lumOff val="60000"/>
            </a:schemeClr>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2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Bao gồm mặt đất và lớp khí quyển, nơi con người và phần lớn thực vật, động vật bậc cao sinh sống.</a:t>
            </a:r>
            <a:endParaRPr sz="2000"/>
          </a:p>
        </p:txBody>
      </p:sp>
      <p:sp>
        <p:nvSpPr>
          <p:cNvPr id="177" name="Google Shape;177;p20"/>
          <p:cNvSpPr txBox="1"/>
          <p:nvPr/>
        </p:nvSpPr>
        <p:spPr>
          <a:xfrm>
            <a:off x="939800" y="5815822"/>
            <a:ext cx="11252200"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0" i="0" u="none" strike="noStrike" cap="none">
                <a:solidFill>
                  <a:srgbClr val="2D3436"/>
                </a:solidFill>
                <a:latin typeface="#9Slide02 Noi dung dai" panose="02000000000000000000" pitchFamily="2" charset="0"/>
                <a:ea typeface="#9Slide02 Noi dung dai" panose="02000000000000000000" pitchFamily="2" charset="0"/>
                <a:cs typeface="DejaVu Math TeX Gyre" panose="02000503000000000000" pitchFamily="2" charset="0"/>
                <a:sym typeface="Lato"/>
              </a:rPr>
              <a:t>Đặc điểm: Ánh sáng dồi dào, nồng độ </a:t>
            </a:r>
            <a:r>
              <a:rPr lang="en-US" sz="2800">
                <a:solidFill>
                  <a:srgbClr val="2D3436"/>
                </a:solidFill>
                <a:latin typeface="#9Slide02 Noi dung dai" panose="02000000000000000000" pitchFamily="2" charset="0"/>
                <a:ea typeface="#9Slide02 Noi dung dai" panose="02000000000000000000" pitchFamily="2" charset="0"/>
                <a:cs typeface="DejaVu Math TeX Gyre" panose="02000503000000000000" pitchFamily="2" charset="0"/>
                <a:sym typeface="Lato"/>
              </a:rPr>
              <a:t>O</a:t>
            </a:r>
            <a:r>
              <a:rPr lang="en-US" sz="2800" baseline="-25000">
                <a:solidFill>
                  <a:srgbClr val="2D3436"/>
                </a:solidFill>
                <a:latin typeface="#9Slide02 Noi dung dai" panose="02000000000000000000" pitchFamily="2" charset="0"/>
                <a:ea typeface="#9Slide02 Noi dung dai" panose="02000000000000000000" pitchFamily="2" charset="0"/>
                <a:cs typeface="DejaVu Math TeX Gyre" panose="02000503000000000000" pitchFamily="2" charset="0"/>
                <a:sym typeface="Lato"/>
              </a:rPr>
              <a:t>2</a:t>
            </a:r>
            <a:r>
              <a:rPr lang="en-US" sz="2800" b="0" i="0" u="none" strike="noStrike" cap="none">
                <a:solidFill>
                  <a:srgbClr val="2D3436"/>
                </a:solidFill>
                <a:latin typeface="#9Slide02 Noi dung dai" panose="02000000000000000000" pitchFamily="2" charset="0"/>
                <a:ea typeface="#9Slide02 Noi dung dai" panose="02000000000000000000" pitchFamily="2" charset="0"/>
                <a:cs typeface="DejaVu Math TeX Gyre" panose="02000503000000000000" pitchFamily="2" charset="0"/>
                <a:sym typeface="Lato"/>
              </a:rPr>
              <a:t> cao, biến động nhiệt độ lớn.</a:t>
            </a:r>
            <a:endParaRPr sz="1800">
              <a:latin typeface="#9Slide02 Noi dung dai" panose="02000000000000000000" pitchFamily="2" charset="0"/>
              <a:ea typeface="#9Slide02 Noi dung dai" panose="02000000000000000000" pitchFamily="2" charset="0"/>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81"/>
        <p:cNvGrpSpPr/>
        <p:nvPr/>
      </p:nvGrpSpPr>
      <p:grpSpPr>
        <a:xfrm>
          <a:off x="0" y="0"/>
          <a:ext cx="0" cy="0"/>
          <a:chOff x="0" y="0"/>
          <a:chExt cx="0" cy="0"/>
        </a:xfrm>
      </p:grpSpPr>
      <p:pic>
        <p:nvPicPr>
          <p:cNvPr id="182" name="Google Shape;182;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3" name="Google Shape;183;p21"/>
          <p:cNvSpPr txBox="1"/>
          <p:nvPr/>
        </p:nvSpPr>
        <p:spPr>
          <a:xfrm>
            <a:off x="762000" y="571500"/>
            <a:ext cx="50006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MÔI TRƯỜNG DƯỚI NƯỚC</a:t>
            </a:r>
            <a:endParaRPr/>
          </a:p>
        </p:txBody>
      </p:sp>
      <p:sp>
        <p:nvSpPr>
          <p:cNvPr id="184" name="Google Shape;184;p21"/>
          <p:cNvSpPr/>
          <p:nvPr/>
        </p:nvSpPr>
        <p:spPr>
          <a:xfrm>
            <a:off x="571500" y="571500"/>
            <a:ext cx="76200" cy="461665"/>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21"/>
          <p:cNvSpPr txBox="1"/>
          <p:nvPr/>
        </p:nvSpPr>
        <p:spPr>
          <a:xfrm>
            <a:off x="571500" y="2095500"/>
            <a:ext cx="4953000" cy="9048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Bao gồm nước ngọt (ao, hồ), nước mặn (biển) và nước lợ (cửa sông).</a:t>
            </a:r>
            <a:endParaRPr/>
          </a:p>
        </p:txBody>
      </p:sp>
      <p:sp>
        <p:nvSpPr>
          <p:cNvPr id="187" name="Google Shape;187;p21"/>
          <p:cNvSpPr txBox="1"/>
          <p:nvPr/>
        </p:nvSpPr>
        <p:spPr>
          <a:xfrm>
            <a:off x="647700" y="3266935"/>
            <a:ext cx="4953000" cy="135729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Đặc điểm: Áp suất thay đổi theo độ sâu, nồng độ muối khoáng và $O_2$ hòa tan ổn định hơn trên cạn.</a:t>
            </a:r>
            <a:endParaRPr/>
          </a:p>
        </p:txBody>
      </p:sp>
      <p:sp>
        <p:nvSpPr>
          <p:cNvPr id="3" name="Freeform 2">
            <a:extLst>
              <a:ext uri="{FF2B5EF4-FFF2-40B4-BE49-F238E27FC236}">
                <a16:creationId xmlns:a16="http://schemas.microsoft.com/office/drawing/2014/main" id="{43900925-14DB-BA86-5A54-006E957EEFC1}"/>
              </a:ext>
            </a:extLst>
          </p:cNvPr>
          <p:cNvSpPr/>
          <p:nvPr/>
        </p:nvSpPr>
        <p:spPr>
          <a:xfrm>
            <a:off x="5600700" y="0"/>
            <a:ext cx="6096000" cy="6858000"/>
          </a:xfrm>
          <a:custGeom>
            <a:avLst/>
            <a:gdLst/>
            <a:ahLst/>
            <a:cxnLst/>
            <a:rect l="l" t="t" r="r" b="b"/>
            <a:pathLst>
              <a:path w="15849590" h="13716000">
                <a:moveTo>
                  <a:pt x="0" y="0"/>
                </a:moveTo>
                <a:lnTo>
                  <a:pt x="15849590" y="0"/>
                </a:lnTo>
                <a:lnTo>
                  <a:pt x="15849590" y="13716000"/>
                </a:lnTo>
                <a:lnTo>
                  <a:pt x="0" y="13716000"/>
                </a:lnTo>
                <a:lnTo>
                  <a:pt x="0" y="0"/>
                </a:lnTo>
                <a:close/>
              </a:path>
            </a:pathLst>
          </a:custGeom>
          <a:blipFill>
            <a:blip r:embed="rId4"/>
            <a:stretch>
              <a:fillRect t="-173" r="-146" b="-188"/>
            </a:stretch>
          </a:blipFill>
        </p:spPr>
        <p:txBody>
          <a:bodyPr/>
          <a:lstStyle/>
          <a:p>
            <a:endParaRPr lang="en-US"/>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91"/>
        <p:cNvGrpSpPr/>
        <p:nvPr/>
      </p:nvGrpSpPr>
      <p:grpSpPr>
        <a:xfrm>
          <a:off x="0" y="0"/>
          <a:ext cx="0" cy="0"/>
          <a:chOff x="0" y="0"/>
          <a:chExt cx="0" cy="0"/>
        </a:xfrm>
      </p:grpSpPr>
      <p:pic>
        <p:nvPicPr>
          <p:cNvPr id="192" name="Google Shape;192;p22" descr="image.png"/>
          <p:cNvPicPr preferRelativeResize="0"/>
          <p:nvPr/>
        </p:nvPicPr>
        <p:blipFill rotWithShape="1">
          <a:blip r:embed="rId3">
            <a:alphaModFix/>
          </a:blip>
          <a:srcRect/>
          <a:stretch/>
        </p:blipFill>
        <p:spPr>
          <a:xfrm>
            <a:off x="0" y="0"/>
            <a:ext cx="12192000" cy="2684834"/>
          </a:xfrm>
          <a:prstGeom prst="rect">
            <a:avLst/>
          </a:prstGeom>
          <a:noFill/>
          <a:ln>
            <a:noFill/>
          </a:ln>
        </p:spPr>
      </p:pic>
      <p:sp>
        <p:nvSpPr>
          <p:cNvPr id="193" name="Google Shape;193;p22"/>
          <p:cNvSpPr txBox="1"/>
          <p:nvPr/>
        </p:nvSpPr>
        <p:spPr>
          <a:xfrm>
            <a:off x="762000" y="571500"/>
            <a:ext cx="50006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MÔI TRƯỜNG TRONG ĐẤT</a:t>
            </a:r>
            <a:endParaRPr/>
          </a:p>
        </p:txBody>
      </p:sp>
      <p:sp>
        <p:nvSpPr>
          <p:cNvPr id="194" name="Google Shape;194;p22"/>
          <p:cNvSpPr/>
          <p:nvPr/>
        </p:nvSpPr>
        <p:spPr>
          <a:xfrm>
            <a:off x="571500" y="571500"/>
            <a:ext cx="45719" cy="1899326"/>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6" name="Google Shape;196;p22"/>
          <p:cNvSpPr txBox="1"/>
          <p:nvPr/>
        </p:nvSpPr>
        <p:spPr>
          <a:xfrm>
            <a:off x="720252" y="1262068"/>
            <a:ext cx="10751496"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Nơi sinh sống của giun đất, vi khuẩn, nấm và bộ rễ thực vật.</a:t>
            </a:r>
            <a:endParaRPr/>
          </a:p>
        </p:txBody>
      </p:sp>
      <p:sp>
        <p:nvSpPr>
          <p:cNvPr id="197" name="Google Shape;197;p22"/>
          <p:cNvSpPr txBox="1"/>
          <p:nvPr/>
        </p:nvSpPr>
        <p:spPr>
          <a:xfrm>
            <a:off x="720252" y="1842801"/>
            <a:ext cx="11620500"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Đặc điểm: Thiếu ánh sáng, độ ẩm cao, hàm lượng CO</a:t>
            </a:r>
            <a:r>
              <a:rPr lang="en-US" sz="2100" b="0" i="0" u="none" strike="noStrike" cap="none" baseline="-25000">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2</a:t>
            </a: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 thường cao hơn khí quyển.</a:t>
            </a:r>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1"/>
        <p:cNvGrpSpPr/>
        <p:nvPr/>
      </p:nvGrpSpPr>
      <p:grpSpPr>
        <a:xfrm>
          <a:off x="0" y="0"/>
          <a:ext cx="0" cy="0"/>
          <a:chOff x="0" y="0"/>
          <a:chExt cx="0" cy="0"/>
        </a:xfrm>
      </p:grpSpPr>
      <p:sp>
        <p:nvSpPr>
          <p:cNvPr id="203" name="Google Shape;203;p23"/>
          <p:cNvSpPr/>
          <p:nvPr/>
        </p:nvSpPr>
        <p:spPr>
          <a:xfrm>
            <a:off x="571500" y="571500"/>
            <a:ext cx="76200" cy="571500"/>
          </a:xfrm>
          <a:prstGeom prst="rect">
            <a:avLst/>
          </a:prstGeom>
          <a:solidFill>
            <a:srgbClr val="D4A37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4" name="Google Shape;204;p23"/>
          <p:cNvSpPr txBox="1"/>
          <p:nvPr/>
        </p:nvSpPr>
        <p:spPr>
          <a:xfrm>
            <a:off x="762000" y="571500"/>
            <a:ext cx="104775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3000" b="1">
                <a:solidFill>
                  <a:srgbClr val="1B4332"/>
                </a:solidFill>
                <a:latin typeface="#9Slide02 Noi dung dai" panose="02000000000000000000" pitchFamily="2" charset="0"/>
                <a:ea typeface="#9Slide02 Noi dung dai" panose="02000000000000000000" pitchFamily="2" charset="0"/>
                <a:cs typeface="Poppins"/>
                <a:sym typeface="Poppins"/>
              </a:rPr>
              <a:t>MÔI TRƯỜNG SINH VẬT</a:t>
            </a:r>
            <a:endParaRPr sz="3000" b="1">
              <a:solidFill>
                <a:srgbClr val="1B4332"/>
              </a:solidFill>
              <a:latin typeface="#9Slide02 Noi dung dai" panose="02000000000000000000" pitchFamily="2" charset="0"/>
              <a:ea typeface="#9Slide02 Noi dung dai" panose="02000000000000000000" pitchFamily="2" charset="0"/>
              <a:cs typeface="Poppins"/>
              <a:sym typeface="Poppins"/>
            </a:endParaRPr>
          </a:p>
        </p:txBody>
      </p:sp>
      <p:grpSp>
        <p:nvGrpSpPr>
          <p:cNvPr id="205" name="Google Shape;205;p23"/>
          <p:cNvGrpSpPr/>
          <p:nvPr/>
        </p:nvGrpSpPr>
        <p:grpSpPr>
          <a:xfrm>
            <a:off x="571500" y="1143000"/>
            <a:ext cx="10858500" cy="2795774"/>
            <a:chOff x="571500" y="1203072"/>
            <a:chExt cx="10858500" cy="2501900"/>
          </a:xfrm>
        </p:grpSpPr>
        <p:sp>
          <p:nvSpPr>
            <p:cNvPr id="206" name="Google Shape;206;p23"/>
            <p:cNvSpPr/>
            <p:nvPr/>
          </p:nvSpPr>
          <p:spPr>
            <a:xfrm>
              <a:off x="571500" y="1424692"/>
              <a:ext cx="10769600" cy="1574058"/>
            </a:xfrm>
            <a:prstGeom prst="roundRect">
              <a:avLst>
                <a:gd name="adj" fmla="val 4761"/>
              </a:avLst>
            </a:prstGeom>
            <a:solidFill>
              <a:srgbClr val="FFFFFF">
                <a:alpha val="9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7" name="Google Shape;207;p23"/>
            <p:cNvSpPr txBox="1"/>
            <p:nvPr/>
          </p:nvSpPr>
          <p:spPr>
            <a:xfrm>
              <a:off x="952500" y="1203072"/>
              <a:ext cx="10477500" cy="2501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100" b="0">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Là cơ thể của các sinh vật khác (cây xanh, động vật, con người) khi chúng là nơi ở cho các loài kí sinh hoặc cộng sinh.</a:t>
              </a:r>
              <a:endParaRPr sz="2100" b="0">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endParaRPr>
            </a:p>
            <a:p>
              <a:pPr marL="0" lvl="0" indent="0" algn="l" rtl="0">
                <a:spcBef>
                  <a:spcPts val="2250"/>
                </a:spcBef>
                <a:spcAft>
                  <a:spcPts val="0"/>
                </a:spcAft>
                <a:buNone/>
              </a:pPr>
              <a:r>
                <a:rPr lang="en-US" sz="1800" b="1">
                  <a:solidFill>
                    <a:srgbClr val="1B4332"/>
                  </a:solidFill>
                  <a:latin typeface="#9Slide02 Noi dung dai" panose="02000000000000000000" pitchFamily="2" charset="0"/>
                  <a:ea typeface="#9Slide02 Noi dung dai" panose="02000000000000000000" pitchFamily="2" charset="0"/>
                  <a:cs typeface="Poppins"/>
                  <a:sym typeface="Poppins"/>
                </a:rPr>
                <a:t>Ví dụ:</a:t>
              </a:r>
              <a:endParaRPr sz="1800" b="1">
                <a:solidFill>
                  <a:srgbClr val="1B4332"/>
                </a:solidFill>
                <a:latin typeface="#9Slide02 Noi dung dai" panose="02000000000000000000" pitchFamily="2" charset="0"/>
                <a:ea typeface="#9Slide02 Noi dung dai" panose="02000000000000000000" pitchFamily="2" charset="0"/>
                <a:cs typeface="Poppins"/>
                <a:sym typeface="Poppins"/>
              </a:endParaRPr>
            </a:p>
            <a:p>
              <a:pPr marL="0" lvl="0" indent="0" algn="l" rtl="0">
                <a:spcBef>
                  <a:spcPts val="750"/>
                </a:spcBef>
                <a:spcAft>
                  <a:spcPts val="0"/>
                </a:spcAft>
                <a:buNone/>
              </a:pPr>
              <a:r>
                <a:rPr lang="en-US" sz="1800" b="0" i="1">
                  <a:solidFill>
                    <a:srgbClr val="4A4A4A"/>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Sán lá gan kí sinh trong gan bò.</a:t>
              </a:r>
              <a:endParaRPr sz="1800" b="0" i="1">
                <a:solidFill>
                  <a:srgbClr val="4A4A4A"/>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endParaRPr>
            </a:p>
          </p:txBody>
        </p:sp>
      </p:gr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214"/>
        <p:cNvGrpSpPr/>
        <p:nvPr/>
      </p:nvGrpSpPr>
      <p:grpSpPr>
        <a:xfrm>
          <a:off x="0" y="0"/>
          <a:ext cx="0" cy="0"/>
          <a:chOff x="0" y="0"/>
          <a:chExt cx="0" cy="0"/>
        </a:xfrm>
      </p:grpSpPr>
      <p:pic>
        <p:nvPicPr>
          <p:cNvPr id="215" name="Google Shape;215;p24" descr="image.png"/>
          <p:cNvPicPr preferRelativeResize="0"/>
          <p:nvPr/>
        </p:nvPicPr>
        <p:blipFill rotWithShape="1">
          <a:blip r:embed="rId3">
            <a:alphaModFix/>
          </a:blip>
          <a:srcRect/>
          <a:stretch/>
        </p:blipFill>
        <p:spPr>
          <a:xfrm>
            <a:off x="85725" y="0"/>
            <a:ext cx="12192000" cy="6858000"/>
          </a:xfrm>
          <a:prstGeom prst="rect">
            <a:avLst/>
          </a:prstGeom>
          <a:noFill/>
          <a:ln w="28575">
            <a:solidFill>
              <a:srgbClr val="006666"/>
            </a:solidFill>
          </a:ln>
        </p:spPr>
      </p:pic>
      <p:pic>
        <p:nvPicPr>
          <p:cNvPr id="216" name="Google Shape;216;p24" descr="image.png"/>
          <p:cNvPicPr preferRelativeResize="0"/>
          <p:nvPr/>
        </p:nvPicPr>
        <p:blipFill rotWithShape="1">
          <a:blip r:embed="rId4">
            <a:alphaModFix/>
          </a:blip>
          <a:srcRect/>
          <a:stretch/>
        </p:blipFill>
        <p:spPr>
          <a:xfrm>
            <a:off x="482441" y="1385293"/>
            <a:ext cx="11138059" cy="1779290"/>
          </a:xfrm>
          <a:prstGeom prst="rect">
            <a:avLst/>
          </a:prstGeom>
          <a:noFill/>
          <a:ln>
            <a:noFill/>
          </a:ln>
        </p:spPr>
      </p:pic>
      <p:sp>
        <p:nvSpPr>
          <p:cNvPr id="218" name="Google Shape;218;p24"/>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II. NHÂN TỐ SINH THÁI</a:t>
            </a:r>
            <a:endParaRPr/>
          </a:p>
        </p:txBody>
      </p:sp>
      <p:sp>
        <p:nvSpPr>
          <p:cNvPr id="219" name="Google Shape;219;p24"/>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24"/>
          <p:cNvSpPr txBox="1"/>
          <p:nvPr/>
        </p:nvSpPr>
        <p:spPr>
          <a:xfrm>
            <a:off x="571500" y="1506751"/>
            <a:ext cx="1640341"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chemeClr val="bg2"/>
                </a:solidFill>
                <a:latin typeface="#9Slide02 Noi dung dai" panose="02000000000000000000" pitchFamily="2" charset="0"/>
                <a:ea typeface="#9Slide02 Noi dung dai" panose="02000000000000000000" pitchFamily="2" charset="0"/>
                <a:cs typeface="Poppins"/>
                <a:sym typeface="Poppins"/>
              </a:rPr>
              <a:t>Định nghĩa</a:t>
            </a:r>
            <a:endParaRPr>
              <a:solidFill>
                <a:schemeClr val="bg2"/>
              </a:solidFill>
            </a:endParaRPr>
          </a:p>
        </p:txBody>
      </p:sp>
      <p:sp>
        <p:nvSpPr>
          <p:cNvPr id="221" name="Google Shape;221;p24"/>
          <p:cNvSpPr txBox="1"/>
          <p:nvPr/>
        </p:nvSpPr>
        <p:spPr>
          <a:xfrm>
            <a:off x="2397808" y="1759395"/>
            <a:ext cx="9058038" cy="120648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Là các yếu tố của môi trường tác động trực tiếp hoặc gián tiếp lên đời sống của sinh vật.</a:t>
            </a:r>
            <a:endParaRPr sz="1800"/>
          </a:p>
        </p:txBody>
      </p:sp>
      <p:pic>
        <p:nvPicPr>
          <p:cNvPr id="217" name="Google Shape;217;p24" descr="image.png"/>
          <p:cNvPicPr preferRelativeResize="0"/>
          <p:nvPr/>
        </p:nvPicPr>
        <p:blipFill rotWithShape="1">
          <a:blip r:embed="rId5">
            <a:alphaModFix/>
          </a:blip>
          <a:srcRect/>
          <a:stretch/>
        </p:blipFill>
        <p:spPr>
          <a:xfrm>
            <a:off x="5016498" y="3693418"/>
            <a:ext cx="2159003" cy="794891"/>
          </a:xfrm>
          <a:prstGeom prst="rect">
            <a:avLst/>
          </a:prstGeom>
          <a:noFill/>
          <a:ln>
            <a:solidFill>
              <a:srgbClr val="C00000"/>
            </a:solidFill>
          </a:ln>
        </p:spPr>
      </p:pic>
      <p:sp>
        <p:nvSpPr>
          <p:cNvPr id="222" name="Google Shape;222;p24"/>
          <p:cNvSpPr txBox="1"/>
          <p:nvPr/>
        </p:nvSpPr>
        <p:spPr>
          <a:xfrm>
            <a:off x="5395952" y="3908363"/>
            <a:ext cx="1563610" cy="36500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chemeClr val="bg2"/>
                </a:solidFill>
                <a:latin typeface="#9Slide02 Noi dung dai" panose="02000000000000000000" pitchFamily="2" charset="0"/>
                <a:ea typeface="#9Slide02 Noi dung dai" panose="02000000000000000000" pitchFamily="2" charset="0"/>
                <a:cs typeface="Poppins"/>
                <a:sym typeface="Poppins"/>
              </a:rPr>
              <a:t>Phân loại</a:t>
            </a:r>
            <a:endParaRPr>
              <a:solidFill>
                <a:schemeClr val="bg2"/>
              </a:solidFill>
            </a:endParaRPr>
          </a:p>
        </p:txBody>
      </p:sp>
      <p:sp>
        <p:nvSpPr>
          <p:cNvPr id="223" name="Google Shape;223;p24"/>
          <p:cNvSpPr txBox="1"/>
          <p:nvPr/>
        </p:nvSpPr>
        <p:spPr>
          <a:xfrm>
            <a:off x="2547477" y="5017144"/>
            <a:ext cx="2908151" cy="517065"/>
          </a:xfrm>
          <a:prstGeom prst="rect">
            <a:avLst/>
          </a:prstGeom>
          <a:solidFill>
            <a:schemeClr val="accent3">
              <a:lumMod val="40000"/>
              <a:lumOff val="60000"/>
            </a:schemeClr>
          </a:solid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1"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Nhân tố vô sinh</a:t>
            </a:r>
            <a:endParaRPr sz="1600" b="1"/>
          </a:p>
        </p:txBody>
      </p:sp>
      <p:sp>
        <p:nvSpPr>
          <p:cNvPr id="2" name="Google Shape;223;p24">
            <a:extLst>
              <a:ext uri="{FF2B5EF4-FFF2-40B4-BE49-F238E27FC236}">
                <a16:creationId xmlns:a16="http://schemas.microsoft.com/office/drawing/2014/main" id="{0A45CDCE-A89A-72ED-1760-553F9385F124}"/>
              </a:ext>
            </a:extLst>
          </p:cNvPr>
          <p:cNvSpPr txBox="1"/>
          <p:nvPr/>
        </p:nvSpPr>
        <p:spPr>
          <a:xfrm>
            <a:off x="6711949" y="5017144"/>
            <a:ext cx="3135375" cy="517065"/>
          </a:xfrm>
          <a:prstGeom prst="rect">
            <a:avLst/>
          </a:prstGeom>
          <a:solidFill>
            <a:schemeClr val="accent3">
              <a:lumMod val="40000"/>
              <a:lumOff val="60000"/>
            </a:schemeClr>
          </a:solid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400" b="1"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Nhân tố hữu sinh.</a:t>
            </a:r>
            <a:endParaRPr sz="1600" b="1"/>
          </a:p>
        </p:txBody>
      </p:sp>
      <p:sp>
        <p:nvSpPr>
          <p:cNvPr id="5" name="Google Shape;233;p25">
            <a:extLst>
              <a:ext uri="{FF2B5EF4-FFF2-40B4-BE49-F238E27FC236}">
                <a16:creationId xmlns:a16="http://schemas.microsoft.com/office/drawing/2014/main" id="{C69BC5C5-8F99-977F-31DF-39D063EADE2B}"/>
              </a:ext>
            </a:extLst>
          </p:cNvPr>
          <p:cNvSpPr txBox="1"/>
          <p:nvPr/>
        </p:nvSpPr>
        <p:spPr>
          <a:xfrm>
            <a:off x="12809321" y="3053260"/>
            <a:ext cx="2164649" cy="135729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Ánh sáng: Cung cấp năng lượng cho quang hợp.</a:t>
            </a:r>
            <a:endParaRPr/>
          </a:p>
        </p:txBody>
      </p:sp>
      <p:sp>
        <p:nvSpPr>
          <p:cNvPr id="7" name="Google Shape;234;p25">
            <a:extLst>
              <a:ext uri="{FF2B5EF4-FFF2-40B4-BE49-F238E27FC236}">
                <a16:creationId xmlns:a16="http://schemas.microsoft.com/office/drawing/2014/main" id="{29787F28-1B37-89B0-BEFE-091F413C352D}"/>
              </a:ext>
            </a:extLst>
          </p:cNvPr>
          <p:cNvSpPr txBox="1"/>
          <p:nvPr/>
        </p:nvSpPr>
        <p:spPr>
          <a:xfrm>
            <a:off x="12809321" y="6858085"/>
            <a:ext cx="2696428" cy="135729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Nhiệt độ: Ảnh hưởng đến chuyển hóa vật chất.</a:t>
            </a:r>
            <a:endParaRPr/>
          </a:p>
        </p:txBody>
      </p:sp>
      <p:sp>
        <p:nvSpPr>
          <p:cNvPr id="9" name="Google Shape;235;p25">
            <a:extLst>
              <a:ext uri="{FF2B5EF4-FFF2-40B4-BE49-F238E27FC236}">
                <a16:creationId xmlns:a16="http://schemas.microsoft.com/office/drawing/2014/main" id="{6E75925D-90BB-24DB-42C1-71F8E5E81EBA}"/>
              </a:ext>
            </a:extLst>
          </p:cNvPr>
          <p:cNvSpPr txBox="1"/>
          <p:nvPr/>
        </p:nvSpPr>
        <p:spPr>
          <a:xfrm>
            <a:off x="12809321" y="4946487"/>
            <a:ext cx="2696428" cy="135729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Độ ẩm và nước: Dung môi cho các phản ứng sinh hóa.</a:t>
            </a:r>
            <a:endParaRPr/>
          </a:p>
        </p:txBody>
      </p:sp>
      <p:sp>
        <p:nvSpPr>
          <p:cNvPr id="11" name="Google Shape;236;p25">
            <a:extLst>
              <a:ext uri="{FF2B5EF4-FFF2-40B4-BE49-F238E27FC236}">
                <a16:creationId xmlns:a16="http://schemas.microsoft.com/office/drawing/2014/main" id="{3FFF503D-DB8A-1D81-33D6-271042491D99}"/>
              </a:ext>
            </a:extLst>
          </p:cNvPr>
          <p:cNvSpPr txBox="1"/>
          <p:nvPr/>
        </p:nvSpPr>
        <p:spPr>
          <a:xfrm>
            <a:off x="16531912" y="6195429"/>
            <a:ext cx="1775543" cy="9048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Khí hậu và Thổ nhưỡng.</a:t>
            </a:r>
            <a:endParaRPr/>
          </a:p>
        </p:txBody>
      </p:sp>
      <p:cxnSp>
        <p:nvCxnSpPr>
          <p:cNvPr id="13" name="Đường kết nối Mũi tên Thẳng 12">
            <a:extLst>
              <a:ext uri="{FF2B5EF4-FFF2-40B4-BE49-F238E27FC236}">
                <a16:creationId xmlns:a16="http://schemas.microsoft.com/office/drawing/2014/main" id="{146C480A-5CCD-DA3B-5268-9C68C972B362}"/>
              </a:ext>
            </a:extLst>
          </p:cNvPr>
          <p:cNvCxnSpPr/>
          <p:nvPr/>
        </p:nvCxnSpPr>
        <p:spPr>
          <a:xfrm flipH="1">
            <a:off x="5455628" y="4488309"/>
            <a:ext cx="640372" cy="528835"/>
          </a:xfrm>
          <a:prstGeom prst="straightConnector1">
            <a:avLst/>
          </a:prstGeom>
          <a:ln w="28575">
            <a:solidFill>
              <a:srgbClr val="00666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Đường kết nối Mũi tên Thẳng 13">
            <a:extLst>
              <a:ext uri="{FF2B5EF4-FFF2-40B4-BE49-F238E27FC236}">
                <a16:creationId xmlns:a16="http://schemas.microsoft.com/office/drawing/2014/main" id="{D1543DAB-B34A-D179-94A9-D550F3B2DE50}"/>
              </a:ext>
            </a:extLst>
          </p:cNvPr>
          <p:cNvCxnSpPr>
            <a:cxnSpLocks/>
          </p:cNvCxnSpPr>
          <p:nvPr/>
        </p:nvCxnSpPr>
        <p:spPr>
          <a:xfrm>
            <a:off x="6071577" y="4488309"/>
            <a:ext cx="653314" cy="528835"/>
          </a:xfrm>
          <a:prstGeom prst="straightConnector1">
            <a:avLst/>
          </a:prstGeom>
          <a:ln w="28575">
            <a:solidFill>
              <a:srgbClr val="006666"/>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227"/>
        <p:cNvGrpSpPr/>
        <p:nvPr/>
      </p:nvGrpSpPr>
      <p:grpSpPr>
        <a:xfrm>
          <a:off x="0" y="0"/>
          <a:ext cx="0" cy="0"/>
          <a:chOff x="0" y="0"/>
          <a:chExt cx="0" cy="0"/>
        </a:xfrm>
      </p:grpSpPr>
      <p:pic>
        <p:nvPicPr>
          <p:cNvPr id="228" name="Google Shape;228;p25" descr="image.png"/>
          <p:cNvPicPr preferRelativeResize="0"/>
          <p:nvPr/>
        </p:nvPicPr>
        <p:blipFill rotWithShape="1">
          <a:blip r:embed="rId3">
            <a:alphaModFix/>
          </a:blip>
          <a:srcRect/>
          <a:stretch/>
        </p:blipFill>
        <p:spPr>
          <a:xfrm>
            <a:off x="28575" y="0"/>
            <a:ext cx="12163425" cy="6858000"/>
          </a:xfrm>
          <a:prstGeom prst="rect">
            <a:avLst/>
          </a:prstGeom>
          <a:noFill/>
          <a:ln>
            <a:noFill/>
          </a:ln>
        </p:spPr>
      </p:pic>
      <p:pic>
        <p:nvPicPr>
          <p:cNvPr id="229" name="Google Shape;229;p25" descr="image.png"/>
          <p:cNvPicPr preferRelativeResize="0"/>
          <p:nvPr/>
        </p:nvPicPr>
        <p:blipFill rotWithShape="1">
          <a:blip r:embed="rId4">
            <a:alphaModFix/>
          </a:blip>
          <a:srcRect/>
          <a:stretch/>
        </p:blipFill>
        <p:spPr>
          <a:xfrm>
            <a:off x="6334125" y="2000250"/>
            <a:ext cx="5286375" cy="3810000"/>
          </a:xfrm>
          <a:prstGeom prst="rect">
            <a:avLst/>
          </a:prstGeom>
          <a:noFill/>
          <a:ln>
            <a:noFill/>
          </a:ln>
        </p:spPr>
      </p:pic>
      <p:sp>
        <p:nvSpPr>
          <p:cNvPr id="230" name="Google Shape;230;p25"/>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NHÂN TỐ VÔ SINH</a:t>
            </a:r>
            <a:endParaRPr/>
          </a:p>
        </p:txBody>
      </p:sp>
      <p:sp>
        <p:nvSpPr>
          <p:cNvPr id="231" name="Google Shape;231;p25"/>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p25"/>
          <p:cNvSpPr txBox="1"/>
          <p:nvPr/>
        </p:nvSpPr>
        <p:spPr>
          <a:xfrm>
            <a:off x="2690656" y="1670435"/>
            <a:ext cx="10917820"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Ánh sáng: Cung cấp năng lượng cho quang hợp.</a:t>
            </a:r>
            <a:endParaRPr sz="1800"/>
          </a:p>
        </p:txBody>
      </p:sp>
      <p:sp>
        <p:nvSpPr>
          <p:cNvPr id="234" name="Google Shape;234;p25"/>
          <p:cNvSpPr txBox="1"/>
          <p:nvPr/>
        </p:nvSpPr>
        <p:spPr>
          <a:xfrm>
            <a:off x="1253619" y="2782663"/>
            <a:ext cx="9439167"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Nhiệt độ: Ảnh hưởng đến chuyển hóa vật chất.</a:t>
            </a:r>
            <a:endParaRPr sz="1800"/>
          </a:p>
        </p:txBody>
      </p:sp>
      <p:sp>
        <p:nvSpPr>
          <p:cNvPr id="235" name="Google Shape;235;p25"/>
          <p:cNvSpPr txBox="1"/>
          <p:nvPr/>
        </p:nvSpPr>
        <p:spPr>
          <a:xfrm>
            <a:off x="2423449" y="3858764"/>
            <a:ext cx="13110308"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Độ ẩm và nước: Dung môi cho các phản ứng sinh hóa.</a:t>
            </a:r>
            <a:endParaRPr sz="1800"/>
          </a:p>
        </p:txBody>
      </p:sp>
      <p:sp>
        <p:nvSpPr>
          <p:cNvPr id="236" name="Google Shape;236;p25"/>
          <p:cNvSpPr txBox="1"/>
          <p:nvPr/>
        </p:nvSpPr>
        <p:spPr>
          <a:xfrm>
            <a:off x="1381272" y="5134436"/>
            <a:ext cx="6178320"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Khí hậu và Thổ nhưỡng.</a:t>
            </a:r>
            <a:endParaRPr sz="1800"/>
          </a:p>
        </p:txBody>
      </p:sp>
      <p:pic>
        <p:nvPicPr>
          <p:cNvPr id="237" name="Google Shape;237;p25" descr="image.png"/>
          <p:cNvPicPr preferRelativeResize="0"/>
          <p:nvPr/>
        </p:nvPicPr>
        <p:blipFill rotWithShape="1">
          <a:blip r:embed="rId5">
            <a:alphaModFix/>
          </a:blip>
          <a:srcRect/>
          <a:stretch/>
        </p:blipFill>
        <p:spPr>
          <a:xfrm>
            <a:off x="1594412" y="1608400"/>
            <a:ext cx="829037" cy="783699"/>
          </a:xfrm>
          <a:prstGeom prst="rect">
            <a:avLst/>
          </a:prstGeom>
          <a:noFill/>
          <a:ln>
            <a:noFill/>
          </a:ln>
        </p:spPr>
      </p:pic>
      <p:pic>
        <p:nvPicPr>
          <p:cNvPr id="238" name="Google Shape;238;p25" descr="image.png"/>
          <p:cNvPicPr preferRelativeResize="0"/>
          <p:nvPr/>
        </p:nvPicPr>
        <p:blipFill rotWithShape="1">
          <a:blip r:embed="rId6">
            <a:alphaModFix/>
          </a:blip>
          <a:srcRect/>
          <a:stretch/>
        </p:blipFill>
        <p:spPr>
          <a:xfrm>
            <a:off x="377321" y="2744845"/>
            <a:ext cx="527552" cy="735201"/>
          </a:xfrm>
          <a:prstGeom prst="rect">
            <a:avLst/>
          </a:prstGeom>
          <a:noFill/>
          <a:ln>
            <a:noFill/>
          </a:ln>
        </p:spPr>
      </p:pic>
      <p:pic>
        <p:nvPicPr>
          <p:cNvPr id="239" name="Google Shape;239;p25" descr="image.png"/>
          <p:cNvPicPr preferRelativeResize="0"/>
          <p:nvPr/>
        </p:nvPicPr>
        <p:blipFill rotWithShape="1">
          <a:blip r:embed="rId7">
            <a:alphaModFix/>
          </a:blip>
          <a:srcRect/>
          <a:stretch/>
        </p:blipFill>
        <p:spPr>
          <a:xfrm>
            <a:off x="1745153" y="3844003"/>
            <a:ext cx="527553" cy="783700"/>
          </a:xfrm>
          <a:prstGeom prst="rect">
            <a:avLst/>
          </a:prstGeom>
          <a:noFill/>
          <a:ln>
            <a:noFill/>
          </a:ln>
        </p:spPr>
      </p:pic>
      <p:pic>
        <p:nvPicPr>
          <p:cNvPr id="240" name="Google Shape;240;p25" descr="image.png"/>
          <p:cNvPicPr preferRelativeResize="0"/>
          <p:nvPr/>
        </p:nvPicPr>
        <p:blipFill rotWithShape="1">
          <a:blip r:embed="rId8">
            <a:alphaModFix/>
          </a:blip>
          <a:srcRect/>
          <a:stretch/>
        </p:blipFill>
        <p:spPr>
          <a:xfrm>
            <a:off x="424947" y="5135403"/>
            <a:ext cx="674105" cy="674847"/>
          </a:xfrm>
          <a:prstGeom prst="rect">
            <a:avLst/>
          </a:prstGeom>
          <a:noFill/>
          <a:ln>
            <a:noFill/>
          </a:ln>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244"/>
        <p:cNvGrpSpPr/>
        <p:nvPr/>
      </p:nvGrpSpPr>
      <p:grpSpPr>
        <a:xfrm>
          <a:off x="0" y="0"/>
          <a:ext cx="0" cy="0"/>
          <a:chOff x="0" y="0"/>
          <a:chExt cx="0" cy="0"/>
        </a:xfrm>
      </p:grpSpPr>
      <p:pic>
        <p:nvPicPr>
          <p:cNvPr id="247" name="Google Shape;247;p26" descr="image.png"/>
          <p:cNvPicPr preferRelativeResize="0"/>
          <p:nvPr/>
        </p:nvPicPr>
        <p:blipFill rotWithShape="1">
          <a:blip r:embed="rId3">
            <a:alphaModFix/>
          </a:blip>
          <a:srcRect/>
          <a:stretch/>
        </p:blipFill>
        <p:spPr>
          <a:xfrm rot="16200000">
            <a:off x="1206327" y="2764168"/>
            <a:ext cx="1089844" cy="1213345"/>
          </a:xfrm>
          <a:prstGeom prst="rect">
            <a:avLst/>
          </a:prstGeom>
          <a:noFill/>
          <a:ln>
            <a:noFill/>
          </a:ln>
        </p:spPr>
      </p:pic>
      <p:sp>
        <p:nvSpPr>
          <p:cNvPr id="249" name="Google Shape;249;p26"/>
          <p:cNvSpPr txBox="1"/>
          <p:nvPr/>
        </p:nvSpPr>
        <p:spPr>
          <a:xfrm>
            <a:off x="1338151" y="535960"/>
            <a:ext cx="635341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NHÂN TỐ HỮU SINH</a:t>
            </a:r>
            <a:endParaRPr sz="1800"/>
          </a:p>
        </p:txBody>
      </p:sp>
      <p:sp>
        <p:nvSpPr>
          <p:cNvPr id="250" name="Google Shape;250;p26"/>
          <p:cNvSpPr/>
          <p:nvPr/>
        </p:nvSpPr>
        <p:spPr>
          <a:xfrm>
            <a:off x="1144575" y="4871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46" name="Google Shape;246;p26" descr="image.png"/>
          <p:cNvPicPr preferRelativeResize="0"/>
          <p:nvPr/>
        </p:nvPicPr>
        <p:blipFill rotWithShape="1">
          <a:blip r:embed="rId4">
            <a:alphaModFix/>
          </a:blip>
          <a:srcRect/>
          <a:stretch/>
        </p:blipFill>
        <p:spPr>
          <a:xfrm rot="16200000">
            <a:off x="1133779" y="1400525"/>
            <a:ext cx="1105062" cy="1083468"/>
          </a:xfrm>
          <a:prstGeom prst="rect">
            <a:avLst/>
          </a:prstGeom>
          <a:noFill/>
          <a:ln>
            <a:noFill/>
          </a:ln>
        </p:spPr>
      </p:pic>
      <p:sp>
        <p:nvSpPr>
          <p:cNvPr id="251" name="Google Shape;251;p26"/>
          <p:cNvSpPr txBox="1"/>
          <p:nvPr/>
        </p:nvSpPr>
        <p:spPr>
          <a:xfrm>
            <a:off x="2200349" y="1820054"/>
            <a:ext cx="1695530" cy="3749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Thực vật</a:t>
            </a:r>
            <a:endParaRPr/>
          </a:p>
        </p:txBody>
      </p:sp>
      <p:sp>
        <p:nvSpPr>
          <p:cNvPr id="252" name="Google Shape;252;p26"/>
          <p:cNvSpPr txBox="1"/>
          <p:nvPr/>
        </p:nvSpPr>
        <p:spPr>
          <a:xfrm>
            <a:off x="4316670" y="1723041"/>
            <a:ext cx="7542278" cy="452432"/>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Sinh vật sản xuất chính trong hệ sinh thái.</a:t>
            </a:r>
            <a:endParaRPr/>
          </a:p>
        </p:txBody>
      </p:sp>
      <p:sp>
        <p:nvSpPr>
          <p:cNvPr id="256" name="Google Shape;256;p26"/>
          <p:cNvSpPr txBox="1"/>
          <p:nvPr/>
        </p:nvSpPr>
        <p:spPr>
          <a:xfrm>
            <a:off x="4118288" y="3161234"/>
            <a:ext cx="7146555" cy="452432"/>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Phân hủy chất hữu cơ trả lại môi trường vô sinh.</a:t>
            </a:r>
            <a:endParaRPr/>
          </a:p>
        </p:txBody>
      </p:sp>
      <p:sp>
        <p:nvSpPr>
          <p:cNvPr id="253" name="Google Shape;253;p26"/>
          <p:cNvSpPr txBox="1"/>
          <p:nvPr/>
        </p:nvSpPr>
        <p:spPr>
          <a:xfrm>
            <a:off x="2112797" y="3244334"/>
            <a:ext cx="1870633"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Động vật</a:t>
            </a:r>
            <a:endParaRPr/>
          </a:p>
        </p:txBody>
      </p:sp>
      <p:pic>
        <p:nvPicPr>
          <p:cNvPr id="258" name="Google Shape;258;p26" descr="Dog outline"/>
          <p:cNvPicPr preferRelativeResize="0"/>
          <p:nvPr/>
        </p:nvPicPr>
        <p:blipFill>
          <a:blip>
            <a:extLst>
              <a:ext uri="{96DAC541-7B7A-43D3-8B79-37D633B846F1}">
                <asvg:svgBlip xmlns:asvg="http://schemas.microsoft.com/office/drawing/2016/SVG/main" r:embed="rId5"/>
              </a:ext>
            </a:extLst>
          </a:blip>
          <a:srcRect/>
          <a:stretch/>
        </p:blipFill>
        <p:spPr>
          <a:xfrm>
            <a:off x="1462011" y="3095492"/>
            <a:ext cx="539805" cy="539805"/>
          </a:xfrm>
          <a:prstGeom prst="rect">
            <a:avLst/>
          </a:prstGeom>
          <a:noFill/>
          <a:ln>
            <a:noFill/>
          </a:ln>
        </p:spPr>
      </p:pic>
      <p:pic>
        <p:nvPicPr>
          <p:cNvPr id="248" name="Google Shape;248;p26" descr="image.png"/>
          <p:cNvPicPr preferRelativeResize="0"/>
          <p:nvPr/>
        </p:nvPicPr>
        <p:blipFill rotWithShape="1">
          <a:blip r:embed="rId6">
            <a:alphaModFix/>
          </a:blip>
          <a:srcRect/>
          <a:stretch/>
        </p:blipFill>
        <p:spPr>
          <a:xfrm rot="16200000">
            <a:off x="1106996" y="4450818"/>
            <a:ext cx="1089845" cy="1014686"/>
          </a:xfrm>
          <a:prstGeom prst="rect">
            <a:avLst/>
          </a:prstGeom>
          <a:noFill/>
          <a:ln>
            <a:noFill/>
          </a:ln>
        </p:spPr>
      </p:pic>
      <p:sp>
        <p:nvSpPr>
          <p:cNvPr id="255" name="Google Shape;255;p26"/>
          <p:cNvSpPr txBox="1"/>
          <p:nvPr/>
        </p:nvSpPr>
        <p:spPr>
          <a:xfrm>
            <a:off x="1869832" y="4780857"/>
            <a:ext cx="2446838"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Vi sinh vật</a:t>
            </a:r>
            <a:endParaRPr/>
          </a:p>
        </p:txBody>
      </p:sp>
      <p:sp>
        <p:nvSpPr>
          <p:cNvPr id="254" name="Google Shape;254;p26"/>
          <p:cNvSpPr txBox="1"/>
          <p:nvPr/>
        </p:nvSpPr>
        <p:spPr>
          <a:xfrm>
            <a:off x="4247791" y="4779584"/>
            <a:ext cx="7611157" cy="452432"/>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Sinh vật tiêu thụ các mức độ khác nhau.</a:t>
            </a:r>
            <a:endParaRPr/>
          </a:p>
        </p:txBody>
      </p:sp>
      <p:pic>
        <p:nvPicPr>
          <p:cNvPr id="6" name="Đồ họa 5" descr="Covid-19 outline">
            <a:extLst>
              <a:ext uri="{FF2B5EF4-FFF2-40B4-BE49-F238E27FC236}">
                <a16:creationId xmlns:a16="http://schemas.microsoft.com/office/drawing/2014/main" id="{ED042E35-6D6D-D4FF-AB05-37CF9A8AC2C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61206" y="4591406"/>
            <a:ext cx="640610" cy="640610"/>
          </a:xfrm>
          <a:prstGeom prst="rect">
            <a:avLst/>
          </a:prstGeom>
        </p:spPr>
      </p:pic>
      <p:pic>
        <p:nvPicPr>
          <p:cNvPr id="8" name="Đồ họa 7" descr="Bamboo outline">
            <a:extLst>
              <a:ext uri="{FF2B5EF4-FFF2-40B4-BE49-F238E27FC236}">
                <a16:creationId xmlns:a16="http://schemas.microsoft.com/office/drawing/2014/main" id="{DDBE71E6-5225-421D-A9F9-5862D49A3F8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74713" y="1503624"/>
            <a:ext cx="824821" cy="824821"/>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263"/>
        <p:cNvGrpSpPr/>
        <p:nvPr/>
      </p:nvGrpSpPr>
      <p:grpSpPr>
        <a:xfrm>
          <a:off x="0" y="0"/>
          <a:ext cx="0" cy="0"/>
          <a:chOff x="0" y="0"/>
          <a:chExt cx="0" cy="0"/>
        </a:xfrm>
      </p:grpSpPr>
      <p:pic>
        <p:nvPicPr>
          <p:cNvPr id="264" name="Google Shape;264;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5" name="Google Shape;265;p27"/>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CON NGƯỜI - NHÂN TỐ ĐẶC BIỆT</a:t>
            </a:r>
            <a:endParaRPr/>
          </a:p>
        </p:txBody>
      </p:sp>
      <p:sp>
        <p:nvSpPr>
          <p:cNvPr id="266" name="Google Shape;266;p27"/>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7" name="Google Shape;267;p27"/>
          <p:cNvSpPr txBox="1"/>
          <p:nvPr/>
        </p:nvSpPr>
        <p:spPr>
          <a:xfrm>
            <a:off x="2307702" y="2341906"/>
            <a:ext cx="5286375" cy="18466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0" b="1" i="0" u="none" strike="noStrike" cap="none">
                <a:solidFill>
                  <a:srgbClr val="D4A373"/>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a:t>
            </a:r>
            <a:endParaRPr/>
          </a:p>
        </p:txBody>
      </p:sp>
      <p:sp>
        <p:nvSpPr>
          <p:cNvPr id="268" name="Google Shape;268;p27"/>
          <p:cNvSpPr txBox="1"/>
          <p:nvPr/>
        </p:nvSpPr>
        <p:spPr>
          <a:xfrm>
            <a:off x="988189" y="4706594"/>
            <a:ext cx="528637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000000"/>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Nhân tố quyết định</a:t>
            </a:r>
            <a:endParaRPr/>
          </a:p>
        </p:txBody>
      </p:sp>
      <p:sp>
        <p:nvSpPr>
          <p:cNvPr id="269" name="Google Shape;269;p27"/>
          <p:cNvSpPr txBox="1"/>
          <p:nvPr/>
        </p:nvSpPr>
        <p:spPr>
          <a:xfrm>
            <a:off x="4123104" y="1522529"/>
            <a:ext cx="4488462" cy="369332"/>
          </a:xfrm>
          <a:prstGeom prst="rect">
            <a:avLst/>
          </a:prstGeom>
          <a:solidFill>
            <a:schemeClr val="accent6">
              <a:lumMod val="60000"/>
              <a:lumOff val="40000"/>
            </a:schemeClr>
          </a:solid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Tại sao con người lại đặc biệt?</a:t>
            </a:r>
            <a:endParaRPr sz="2400"/>
          </a:p>
        </p:txBody>
      </p:sp>
      <p:sp>
        <p:nvSpPr>
          <p:cNvPr id="270" name="Google Shape;270;p27"/>
          <p:cNvSpPr txBox="1"/>
          <p:nvPr/>
        </p:nvSpPr>
        <p:spPr>
          <a:xfrm>
            <a:off x="2563974" y="5145935"/>
            <a:ext cx="8460611" cy="9048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Con người có tư duy và hoạt động sản xuất, có khả năng cải tạo môi trường hoặc gây ô nhiễm trên quy mô toàn cầu.</a:t>
            </a:r>
            <a:endParaRPr/>
          </a:p>
        </p:txBody>
      </p:sp>
      <p:sp>
        <p:nvSpPr>
          <p:cNvPr id="271" name="Google Shape;271;p27"/>
          <p:cNvSpPr txBox="1"/>
          <p:nvPr/>
        </p:nvSpPr>
        <p:spPr>
          <a:xfrm>
            <a:off x="3031716" y="6156727"/>
            <a:ext cx="7733469"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Chúng ta tác động bằng cả mặt tích cực và tiêu cực.</a:t>
            </a:r>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275"/>
        <p:cNvGrpSpPr/>
        <p:nvPr/>
      </p:nvGrpSpPr>
      <p:grpSpPr>
        <a:xfrm>
          <a:off x="0" y="0"/>
          <a:ext cx="0" cy="0"/>
          <a:chOff x="0" y="0"/>
          <a:chExt cx="0" cy="0"/>
        </a:xfrm>
      </p:grpSpPr>
      <p:pic>
        <p:nvPicPr>
          <p:cNvPr id="276" name="Google Shape;276;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8" name="Google Shape;278;p28"/>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SỰ TƯƠNG TÁC CỦA CÁC NHÂN TỐ</a:t>
            </a:r>
            <a:endParaRPr/>
          </a:p>
        </p:txBody>
      </p:sp>
      <p:sp>
        <p:nvSpPr>
          <p:cNvPr id="279" name="Google Shape;279;p28"/>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0" name="Google Shape;280;p28"/>
          <p:cNvSpPr txBox="1"/>
          <p:nvPr/>
        </p:nvSpPr>
        <p:spPr>
          <a:xfrm>
            <a:off x="571500" y="5403651"/>
            <a:ext cx="11049000" cy="9048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Các nhân tố sinh thái không tác động riêng lẻ mà phối hợp cùng nhau ảnh hưởng đến sức sống của sinh vật.</a:t>
            </a:r>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284"/>
        <p:cNvGrpSpPr/>
        <p:nvPr/>
      </p:nvGrpSpPr>
      <p:grpSpPr>
        <a:xfrm>
          <a:off x="0" y="0"/>
          <a:ext cx="0" cy="0"/>
          <a:chOff x="0" y="0"/>
          <a:chExt cx="0" cy="0"/>
        </a:xfrm>
      </p:grpSpPr>
      <p:sp>
        <p:nvSpPr>
          <p:cNvPr id="286" name="Google Shape;286;p29"/>
          <p:cNvSpPr/>
          <p:nvPr/>
        </p:nvSpPr>
        <p:spPr>
          <a:xfrm rot="16200000">
            <a:off x="2041486" y="3088036"/>
            <a:ext cx="952500" cy="112371"/>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9"/>
          <p:cNvSpPr txBox="1"/>
          <p:nvPr/>
        </p:nvSpPr>
        <p:spPr>
          <a:xfrm>
            <a:off x="434172" y="2713540"/>
            <a:ext cx="1160145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III. Giới hạn sinh thái</a:t>
            </a:r>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291"/>
        <p:cNvGrpSpPr/>
        <p:nvPr/>
      </p:nvGrpSpPr>
      <p:grpSpPr>
        <a:xfrm>
          <a:off x="0" y="0"/>
          <a:ext cx="0" cy="0"/>
          <a:chOff x="0" y="0"/>
          <a:chExt cx="0" cy="0"/>
        </a:xfrm>
      </p:grpSpPr>
      <p:pic>
        <p:nvPicPr>
          <p:cNvPr id="292" name="Google Shape;292;p30" descr="image.png"/>
          <p:cNvPicPr preferRelativeResize="0"/>
          <p:nvPr/>
        </p:nvPicPr>
        <p:blipFill rotWithShape="1">
          <a:blip r:embed="rId3">
            <a:alphaModFix/>
          </a:blip>
          <a:srcRect/>
          <a:stretch/>
        </p:blipFill>
        <p:spPr>
          <a:xfrm>
            <a:off x="28575" y="0"/>
            <a:ext cx="12192000" cy="6858000"/>
          </a:xfrm>
          <a:prstGeom prst="rect">
            <a:avLst/>
          </a:prstGeom>
          <a:noFill/>
          <a:ln>
            <a:noFill/>
          </a:ln>
        </p:spPr>
      </p:pic>
      <p:sp>
        <p:nvSpPr>
          <p:cNvPr id="294" name="Google Shape;294;p30"/>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5" name="Google Shape;295;p30"/>
          <p:cNvSpPr txBox="1"/>
          <p:nvPr/>
        </p:nvSpPr>
        <p:spPr>
          <a:xfrm>
            <a:off x="952500" y="3052762"/>
            <a:ext cx="10668000" cy="1514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u="none" strike="noStrike" cap="none">
                <a:solidFill>
                  <a:srgbClr val="000000"/>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 Giới hạn sinh thái là khoảng giá trị xác định của một nhân tố sinh thái mà trong đó sinh vật có thể tồn tại và phát triển ổn định theo thời gian. </a:t>
            </a:r>
            <a:endParaRPr b="1"/>
          </a:p>
        </p:txBody>
      </p:sp>
      <p:sp>
        <p:nvSpPr>
          <p:cNvPr id="296" name="Google Shape;296;p30"/>
          <p:cNvSpPr/>
          <p:nvPr/>
        </p:nvSpPr>
        <p:spPr>
          <a:xfrm>
            <a:off x="571500" y="3052762"/>
            <a:ext cx="142875" cy="1514475"/>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7" name="Google Shape;297;p30"/>
          <p:cNvSpPr txBox="1"/>
          <p:nvPr/>
        </p:nvSpPr>
        <p:spPr>
          <a:xfrm>
            <a:off x="6694507" y="5619568"/>
            <a:ext cx="5377887"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0" i="1" u="none" strike="noStrike" cap="none">
                <a:solidFill>
                  <a:srgbClr val="0070C0"/>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 Khoa học tự nhiên 8</a:t>
            </a:r>
            <a:endParaRPr sz="3200">
              <a:solidFill>
                <a:srgbClr val="0070C0"/>
              </a:solidFil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301"/>
        <p:cNvGrpSpPr/>
        <p:nvPr/>
      </p:nvGrpSpPr>
      <p:grpSpPr>
        <a:xfrm>
          <a:off x="0" y="0"/>
          <a:ext cx="0" cy="0"/>
          <a:chOff x="0" y="0"/>
          <a:chExt cx="0" cy="0"/>
        </a:xfrm>
      </p:grpSpPr>
      <p:pic>
        <p:nvPicPr>
          <p:cNvPr id="302" name="Google Shape;302;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3" name="Google Shape;303;p31" descr="image.png"/>
          <p:cNvPicPr preferRelativeResize="0"/>
          <p:nvPr/>
        </p:nvPicPr>
        <p:blipFill rotWithShape="1">
          <a:blip r:embed="rId4">
            <a:alphaModFix/>
          </a:blip>
          <a:srcRect/>
          <a:stretch/>
        </p:blipFill>
        <p:spPr>
          <a:xfrm>
            <a:off x="571500" y="1361954"/>
            <a:ext cx="11049000" cy="4762500"/>
          </a:xfrm>
          <a:prstGeom prst="rect">
            <a:avLst/>
          </a:prstGeom>
          <a:noFill/>
          <a:ln>
            <a:noFill/>
          </a:ln>
        </p:spPr>
      </p:pic>
      <p:sp>
        <p:nvSpPr>
          <p:cNvPr id="304" name="Google Shape;304;p31"/>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GIỚI HẠN NHIỆT ĐỘ CỦA CÁ RÔ PHI</a:t>
            </a:r>
            <a:endParaRPr/>
          </a:p>
        </p:txBody>
      </p:sp>
      <p:sp>
        <p:nvSpPr>
          <p:cNvPr id="305" name="Google Shape;305;p31"/>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6" name="Google Shape;306;p31"/>
          <p:cNvSpPr txBox="1"/>
          <p:nvPr/>
        </p:nvSpPr>
        <p:spPr>
          <a:xfrm>
            <a:off x="571500" y="5403651"/>
            <a:ext cx="11049000" cy="9048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Dưới $5^\circ C$ và trên $42^\circ C$, cá rô phi sẽ chết. Khoảng $30^\circ C$ là khoảng cực thuận.</a:t>
            </a:r>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310"/>
        <p:cNvGrpSpPr/>
        <p:nvPr/>
      </p:nvGrpSpPr>
      <p:grpSpPr>
        <a:xfrm>
          <a:off x="0" y="0"/>
          <a:ext cx="0" cy="0"/>
          <a:chOff x="0" y="0"/>
          <a:chExt cx="0" cy="0"/>
        </a:xfrm>
      </p:grpSpPr>
      <p:pic>
        <p:nvPicPr>
          <p:cNvPr id="311" name="Google Shape;311;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12" name="Google Shape;312;p32"/>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CÁC VÙNG TRONG GIỚI HẠN</a:t>
            </a:r>
            <a:endParaRPr/>
          </a:p>
        </p:txBody>
      </p:sp>
      <p:sp>
        <p:nvSpPr>
          <p:cNvPr id="313" name="Google Shape;313;p32"/>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315" name="Google Shape;315;p32"/>
          <p:cNvGraphicFramePr/>
          <p:nvPr>
            <p:extLst>
              <p:ext uri="{D42A27DB-BD31-4B8C-83A1-F6EECF244321}">
                <p14:modId xmlns:p14="http://schemas.microsoft.com/office/powerpoint/2010/main" val="1119681949"/>
              </p:ext>
            </p:extLst>
          </p:nvPr>
        </p:nvGraphicFramePr>
        <p:xfrm>
          <a:off x="609600" y="1782688"/>
          <a:ext cx="11048999" cy="3045600"/>
        </p:xfrm>
        <a:graphic>
          <a:graphicData uri="http://schemas.openxmlformats.org/drawingml/2006/table">
            <a:tbl>
              <a:tblPr firstRow="1" bandRow="1">
                <a:noFill/>
                <a:tableStyleId>{EC8DA5EA-012E-48FE-A7E7-DF5530313DB0}</a:tableStyleId>
              </a:tblPr>
              <a:tblGrid>
                <a:gridCol w="3477075">
                  <a:extLst>
                    <a:ext uri="{9D8B030D-6E8A-4147-A177-3AD203B41FA5}">
                      <a16:colId xmlns:a16="http://schemas.microsoft.com/office/drawing/2014/main" val="20000"/>
                    </a:ext>
                  </a:extLst>
                </a:gridCol>
                <a:gridCol w="7571924">
                  <a:extLst>
                    <a:ext uri="{9D8B030D-6E8A-4147-A177-3AD203B41FA5}">
                      <a16:colId xmlns:a16="http://schemas.microsoft.com/office/drawing/2014/main" val="20001"/>
                    </a:ext>
                  </a:extLst>
                </a:gridCol>
              </a:tblGrid>
              <a:tr h="761400">
                <a:tc>
                  <a:txBody>
                    <a:bodyPr/>
                    <a:lstStyle/>
                    <a:p>
                      <a:pPr marL="0" marR="0" lvl="0" indent="0" algn="l" rtl="0">
                        <a:spcBef>
                          <a:spcPts val="0"/>
                        </a:spcBef>
                        <a:spcAft>
                          <a:spcPts val="0"/>
                        </a:spcAft>
                        <a:buNone/>
                      </a:pPr>
                      <a:r>
                        <a:rPr lang="en-US" sz="2400" b="1" i="0" u="none" strike="noStrike" cap="none">
                          <a:solidFill>
                            <a:srgbClr val="FFFFFF"/>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Tên vùng</a:t>
                      </a:r>
                      <a:endParaRPr sz="1600"/>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B4332"/>
                    </a:solidFill>
                  </a:tcPr>
                </a:tc>
                <a:tc>
                  <a:txBody>
                    <a:bodyPr/>
                    <a:lstStyle/>
                    <a:p>
                      <a:pPr marL="0" marR="0" lvl="0" indent="0" algn="l" rtl="0">
                        <a:spcBef>
                          <a:spcPts val="0"/>
                        </a:spcBef>
                        <a:spcAft>
                          <a:spcPts val="0"/>
                        </a:spcAft>
                        <a:buNone/>
                      </a:pPr>
                      <a:r>
                        <a:rPr lang="en-US" sz="2400" b="1" i="0" u="none" strike="noStrike" cap="none">
                          <a:solidFill>
                            <a:srgbClr val="FFFFFF"/>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Đặc điểm sinh học</a:t>
                      </a:r>
                      <a:endParaRPr sz="1600"/>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761400">
                <a:tc>
                  <a:txBody>
                    <a:bodyPr/>
                    <a:lstStyle/>
                    <a:p>
                      <a:pPr marL="0" marR="0" lvl="0" indent="0" algn="l" rtl="0">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Khoảng cực thuận</a:t>
                      </a:r>
                      <a:endParaRPr sz="1600"/>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Sinh vật sinh trưởng và phát triển tốt nhất.</a:t>
                      </a:r>
                      <a:endParaRPr sz="1600"/>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61400">
                <a:tc>
                  <a:txBody>
                    <a:bodyPr/>
                    <a:lstStyle/>
                    <a:p>
                      <a:pPr marL="0" marR="0" lvl="0" indent="0" algn="l" rtl="0">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Khoảng chống chịu</a:t>
                      </a:r>
                      <a:endParaRPr sz="1600"/>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Sinh vật bắt đầu bị ức chế các hoạt động sống.</a:t>
                      </a:r>
                      <a:endParaRPr sz="1600"/>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61400">
                <a:tc>
                  <a:txBody>
                    <a:bodyPr/>
                    <a:lstStyle/>
                    <a:p>
                      <a:pPr marL="0" marR="0" lvl="0" indent="0" algn="l" rtl="0">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Điểm gây chết</a:t>
                      </a:r>
                      <a:endParaRPr sz="1600"/>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24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Giá trị mà vượt qua đó sinh vật sẽ chết ngay.</a:t>
                      </a:r>
                      <a:endParaRPr sz="1600"/>
                    </a:p>
                  </a:txBody>
                  <a:tcPr marL="63500" marR="635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16" name="Google Shape;316;p32"/>
          <p:cNvSpPr/>
          <p:nvPr/>
        </p:nvSpPr>
        <p:spPr>
          <a:xfrm>
            <a:off x="571500" y="3886200"/>
            <a:ext cx="3477071"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7" name="Google Shape;317;p32"/>
          <p:cNvSpPr/>
          <p:nvPr/>
        </p:nvSpPr>
        <p:spPr>
          <a:xfrm>
            <a:off x="4048571" y="3886200"/>
            <a:ext cx="7571928"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8" name="Google Shape;318;p32"/>
          <p:cNvSpPr/>
          <p:nvPr/>
        </p:nvSpPr>
        <p:spPr>
          <a:xfrm>
            <a:off x="571500" y="4649985"/>
            <a:ext cx="3477071"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9" name="Google Shape;319;p32"/>
          <p:cNvSpPr/>
          <p:nvPr/>
        </p:nvSpPr>
        <p:spPr>
          <a:xfrm>
            <a:off x="4048571" y="4649985"/>
            <a:ext cx="7571928"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0" name="Google Shape;320;p32"/>
          <p:cNvSpPr/>
          <p:nvPr/>
        </p:nvSpPr>
        <p:spPr>
          <a:xfrm>
            <a:off x="571500" y="5413771"/>
            <a:ext cx="3477071"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1" name="Google Shape;321;p32"/>
          <p:cNvSpPr/>
          <p:nvPr/>
        </p:nvSpPr>
        <p:spPr>
          <a:xfrm>
            <a:off x="4048571" y="5413771"/>
            <a:ext cx="7571928"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325"/>
        <p:cNvGrpSpPr/>
        <p:nvPr/>
      </p:nvGrpSpPr>
      <p:grpSpPr>
        <a:xfrm>
          <a:off x="0" y="0"/>
          <a:ext cx="0" cy="0"/>
          <a:chOff x="0" y="0"/>
          <a:chExt cx="0" cy="0"/>
        </a:xfrm>
      </p:grpSpPr>
      <p:pic>
        <p:nvPicPr>
          <p:cNvPr id="326" name="Google Shape;326;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27" name="Google Shape;327;p33"/>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ĐIỂM CẦN LƯU Ý</a:t>
            </a:r>
            <a:endParaRPr/>
          </a:p>
        </p:txBody>
      </p:sp>
      <p:sp>
        <p:nvSpPr>
          <p:cNvPr id="328" name="Google Shape;328;p33"/>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9" name="Google Shape;329;p33"/>
          <p:cNvSpPr txBox="1"/>
          <p:nvPr/>
        </p:nvSpPr>
        <p:spPr>
          <a:xfrm>
            <a:off x="1143000" y="2988171"/>
            <a:ext cx="10477500"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Mỗi loài có giới hạn sinh thái khác nhau cho từng nhân tố.</a:t>
            </a:r>
            <a:endParaRPr/>
          </a:p>
        </p:txBody>
      </p:sp>
      <p:sp>
        <p:nvSpPr>
          <p:cNvPr id="330" name="Google Shape;330;p33"/>
          <p:cNvSpPr txBox="1"/>
          <p:nvPr/>
        </p:nvSpPr>
        <p:spPr>
          <a:xfrm>
            <a:off x="1143000" y="3599557"/>
            <a:ext cx="10477500"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Loài có giới hạn sinh thái rộng thường phân bố rộng.</a:t>
            </a:r>
            <a:endParaRPr/>
          </a:p>
        </p:txBody>
      </p:sp>
      <p:sp>
        <p:nvSpPr>
          <p:cNvPr id="331" name="Google Shape;331;p33"/>
          <p:cNvSpPr txBox="1"/>
          <p:nvPr/>
        </p:nvSpPr>
        <p:spPr>
          <a:xfrm>
            <a:off x="1143000" y="4210942"/>
            <a:ext cx="10477500"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Sinh vật có thể thích nghi để thay đổi giới hạn (trong phạm vi nhất định).</a:t>
            </a:r>
            <a:endParaRPr/>
          </a:p>
        </p:txBody>
      </p:sp>
      <p:pic>
        <p:nvPicPr>
          <p:cNvPr id="332" name="Google Shape;332;p33" descr="image.png"/>
          <p:cNvPicPr preferRelativeResize="0"/>
          <p:nvPr/>
        </p:nvPicPr>
        <p:blipFill rotWithShape="1">
          <a:blip r:embed="rId4">
            <a:alphaModFix/>
          </a:blip>
          <a:srcRect/>
          <a:stretch/>
        </p:blipFill>
        <p:spPr>
          <a:xfrm>
            <a:off x="571500" y="3031033"/>
            <a:ext cx="295275" cy="342900"/>
          </a:xfrm>
          <a:prstGeom prst="rect">
            <a:avLst/>
          </a:prstGeom>
          <a:noFill/>
          <a:ln>
            <a:noFill/>
          </a:ln>
        </p:spPr>
      </p:pic>
      <p:pic>
        <p:nvPicPr>
          <p:cNvPr id="333" name="Google Shape;333;p33" descr="image.png"/>
          <p:cNvPicPr preferRelativeResize="0"/>
          <p:nvPr/>
        </p:nvPicPr>
        <p:blipFill rotWithShape="1">
          <a:blip r:embed="rId4">
            <a:alphaModFix/>
          </a:blip>
          <a:srcRect/>
          <a:stretch/>
        </p:blipFill>
        <p:spPr>
          <a:xfrm>
            <a:off x="571500" y="3642419"/>
            <a:ext cx="295275" cy="342900"/>
          </a:xfrm>
          <a:prstGeom prst="rect">
            <a:avLst/>
          </a:prstGeom>
          <a:noFill/>
          <a:ln>
            <a:noFill/>
          </a:ln>
        </p:spPr>
      </p:pic>
      <p:pic>
        <p:nvPicPr>
          <p:cNvPr id="334" name="Google Shape;334;p33" descr="image.png"/>
          <p:cNvPicPr preferRelativeResize="0"/>
          <p:nvPr/>
        </p:nvPicPr>
        <p:blipFill rotWithShape="1">
          <a:blip r:embed="rId4">
            <a:alphaModFix/>
          </a:blip>
          <a:srcRect/>
          <a:stretch/>
        </p:blipFill>
        <p:spPr>
          <a:xfrm>
            <a:off x="571500" y="4253805"/>
            <a:ext cx="295275" cy="342900"/>
          </a:xfrm>
          <a:prstGeom prst="rect">
            <a:avLst/>
          </a:prstGeom>
          <a:noFill/>
          <a:ln>
            <a:noFill/>
          </a:ln>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338"/>
        <p:cNvGrpSpPr/>
        <p:nvPr/>
      </p:nvGrpSpPr>
      <p:grpSpPr>
        <a:xfrm>
          <a:off x="0" y="0"/>
          <a:ext cx="0" cy="0"/>
          <a:chOff x="0" y="0"/>
          <a:chExt cx="0" cy="0"/>
        </a:xfrm>
      </p:grpSpPr>
      <p:pic>
        <p:nvPicPr>
          <p:cNvPr id="339" name="Google Shape;339;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40" name="Google Shape;340;p34"/>
          <p:cNvSpPr/>
          <p:nvPr/>
        </p:nvSpPr>
        <p:spPr>
          <a:xfrm>
            <a:off x="5143500" y="952500"/>
            <a:ext cx="1905000" cy="9525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1" name="Google Shape;341;p34"/>
          <p:cNvSpPr txBox="1"/>
          <p:nvPr/>
        </p:nvSpPr>
        <p:spPr>
          <a:xfrm>
            <a:off x="295275" y="1428750"/>
            <a:ext cx="1160145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Hoạt động 3: Luyện tập</a:t>
            </a:r>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345"/>
        <p:cNvGrpSpPr/>
        <p:nvPr/>
      </p:nvGrpSpPr>
      <p:grpSpPr>
        <a:xfrm>
          <a:off x="0" y="0"/>
          <a:ext cx="0" cy="0"/>
          <a:chOff x="0" y="0"/>
          <a:chExt cx="0" cy="0"/>
        </a:xfrm>
      </p:grpSpPr>
      <p:pic>
        <p:nvPicPr>
          <p:cNvPr id="346" name="Google Shape;346;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47" name="Google Shape;347;p35"/>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PHÂN LOẠI NHÂN TỐ SINH THÁI</a:t>
            </a:r>
            <a:endParaRPr/>
          </a:p>
        </p:txBody>
      </p:sp>
      <p:sp>
        <p:nvSpPr>
          <p:cNvPr id="348" name="Google Shape;348;p35"/>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9" name="Google Shape;349;p35"/>
          <p:cNvSpPr/>
          <p:nvPr/>
        </p:nvSpPr>
        <p:spPr>
          <a:xfrm>
            <a:off x="571500" y="2000547"/>
            <a:ext cx="11049000" cy="3809404"/>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350" name="Google Shape;350;p35"/>
          <p:cNvGraphicFramePr/>
          <p:nvPr/>
        </p:nvGraphicFramePr>
        <p:xfrm>
          <a:off x="571500" y="2000547"/>
          <a:ext cx="11049000" cy="3809375"/>
        </p:xfrm>
        <a:graphic>
          <a:graphicData uri="http://schemas.openxmlformats.org/drawingml/2006/table">
            <a:tbl>
              <a:tblPr firstRow="1" bandRow="1">
                <a:noFill/>
                <a:tableStyleId>{EC8DA5EA-012E-48FE-A7E7-DF5530313DB0}</a:tableStyleId>
              </a:tblPr>
              <a:tblGrid>
                <a:gridCol w="4905825">
                  <a:extLst>
                    <a:ext uri="{9D8B030D-6E8A-4147-A177-3AD203B41FA5}">
                      <a16:colId xmlns:a16="http://schemas.microsoft.com/office/drawing/2014/main" val="20000"/>
                    </a:ext>
                  </a:extLst>
                </a:gridCol>
                <a:gridCol w="2923275">
                  <a:extLst>
                    <a:ext uri="{9D8B030D-6E8A-4147-A177-3AD203B41FA5}">
                      <a16:colId xmlns:a16="http://schemas.microsoft.com/office/drawing/2014/main" val="20001"/>
                    </a:ext>
                  </a:extLst>
                </a:gridCol>
                <a:gridCol w="3219900">
                  <a:extLst>
                    <a:ext uri="{9D8B030D-6E8A-4147-A177-3AD203B41FA5}">
                      <a16:colId xmlns:a16="http://schemas.microsoft.com/office/drawing/2014/main" val="20002"/>
                    </a:ext>
                  </a:extLst>
                </a:gridCol>
              </a:tblGrid>
              <a:tr h="761875">
                <a:tc>
                  <a:txBody>
                    <a:bodyPr/>
                    <a:lstStyle/>
                    <a:p>
                      <a:pPr marL="0" marR="0" lvl="0" indent="0" algn="l" rtl="0">
                        <a:spcBef>
                          <a:spcPts val="0"/>
                        </a:spcBef>
                        <a:spcAft>
                          <a:spcPts val="0"/>
                        </a:spcAft>
                        <a:buNone/>
                      </a:pPr>
                      <a:r>
                        <a:rPr lang="en-US" sz="2100" b="1" i="0" u="none" strike="noStrike" cap="none">
                          <a:solidFill>
                            <a:srgbClr val="FFFFFF"/>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Nhân tố</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B4332"/>
                    </a:solidFill>
                  </a:tcPr>
                </a:tc>
                <a:tc>
                  <a:txBody>
                    <a:bodyPr/>
                    <a:lstStyle/>
                    <a:p>
                      <a:pPr marL="0" marR="0" lvl="0" indent="0" algn="l" rtl="0">
                        <a:spcBef>
                          <a:spcPts val="0"/>
                        </a:spcBef>
                        <a:spcAft>
                          <a:spcPts val="0"/>
                        </a:spcAft>
                        <a:buNone/>
                      </a:pPr>
                      <a:r>
                        <a:rPr lang="en-US" sz="2100" b="1" i="0" u="none" strike="noStrike" cap="none">
                          <a:solidFill>
                            <a:srgbClr val="FFFFFF"/>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Nhóm vô sinh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B4332"/>
                    </a:solidFill>
                  </a:tcPr>
                </a:tc>
                <a:tc>
                  <a:txBody>
                    <a:bodyPr/>
                    <a:lstStyle/>
                    <a:p>
                      <a:pPr marL="0" marR="0" lvl="0" indent="0" algn="l" rtl="0">
                        <a:spcBef>
                          <a:spcPts val="0"/>
                        </a:spcBef>
                        <a:spcAft>
                          <a:spcPts val="0"/>
                        </a:spcAft>
                        <a:buNone/>
                      </a:pPr>
                      <a:r>
                        <a:rPr lang="en-US" sz="2100" b="1" i="0" u="none" strike="noStrike" cap="none">
                          <a:solidFill>
                            <a:srgbClr val="FFFFFF"/>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Nhóm hữu sinh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B4332"/>
                    </a:solidFill>
                  </a:tcPr>
                </a:tc>
                <a:extLst>
                  <a:ext uri="{0D108BD9-81ED-4DB2-BD59-A6C34878D82A}">
                    <a16:rowId xmlns:a16="http://schemas.microsoft.com/office/drawing/2014/main" val="10000"/>
                  </a:ext>
                </a:extLst>
              </a:tr>
              <a:tr h="761875">
                <a:tc>
                  <a:txBody>
                    <a:bodyPr/>
                    <a:lstStyle/>
                    <a:p>
                      <a:pPr marL="0" marR="0" lvl="0" indent="0" algn="l" rtl="0">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Nồng độ muối trong nước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solidFill>
                          <a:schemeClr val="dk1"/>
                        </a:solidFill>
                        <a:latin typeface="Calibri"/>
                        <a:ea typeface="Calibri"/>
                        <a:cs typeface="Calibri"/>
                        <a:sym typeface="Calibri"/>
                      </a:endParaRPr>
                    </a:p>
                  </a:txBody>
                  <a:tcPr marL="352425"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u="none" strike="noStrike" cap="none">
                        <a:solidFill>
                          <a:schemeClr val="dk1"/>
                        </a:solidFill>
                        <a:latin typeface="Calibri"/>
                        <a:ea typeface="Calibri"/>
                        <a:cs typeface="Calibri"/>
                        <a:sym typeface="Calibri"/>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61875">
                <a:tc>
                  <a:txBody>
                    <a:bodyPr/>
                    <a:lstStyle/>
                    <a:p>
                      <a:pPr marL="0" marR="0" lvl="0" indent="0" algn="l" rtl="0">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Bầy sư tử săn mồi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u="none" strike="noStrike" cap="none">
                        <a:solidFill>
                          <a:schemeClr val="dk1"/>
                        </a:solidFill>
                        <a:latin typeface="Calibri"/>
                        <a:ea typeface="Calibri"/>
                        <a:cs typeface="Calibri"/>
                        <a:sym typeface="Calibri"/>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solidFill>
                          <a:schemeClr val="dk1"/>
                        </a:solidFill>
                        <a:latin typeface="Calibri"/>
                        <a:ea typeface="Calibri"/>
                        <a:cs typeface="Calibri"/>
                        <a:sym typeface="Calibri"/>
                      </a:endParaRPr>
                    </a:p>
                  </a:txBody>
                  <a:tcPr marL="352425"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761875">
                <a:tc>
                  <a:txBody>
                    <a:bodyPr/>
                    <a:lstStyle/>
                    <a:p>
                      <a:pPr marL="0" marR="0" lvl="0" indent="0" algn="l" rtl="0">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Độ ẩm của đất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solidFill>
                          <a:schemeClr val="dk1"/>
                        </a:solidFill>
                        <a:latin typeface="Calibri"/>
                        <a:ea typeface="Calibri"/>
                        <a:cs typeface="Calibri"/>
                        <a:sym typeface="Calibri"/>
                      </a:endParaRPr>
                    </a:p>
                  </a:txBody>
                  <a:tcPr marL="352425"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u="none" strike="noStrike" cap="none">
                        <a:solidFill>
                          <a:schemeClr val="dk1"/>
                        </a:solidFill>
                        <a:latin typeface="Calibri"/>
                        <a:ea typeface="Calibri"/>
                        <a:cs typeface="Calibri"/>
                        <a:sym typeface="Calibri"/>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61875">
                <a:tc>
                  <a:txBody>
                    <a:bodyPr/>
                    <a:lstStyle/>
                    <a:p>
                      <a:pPr marL="0" marR="0" lvl="0" indent="0" algn="l" rtl="0">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Cây bèo tây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u="none" strike="noStrike" cap="none">
                        <a:solidFill>
                          <a:schemeClr val="dk1"/>
                        </a:solidFill>
                        <a:latin typeface="Calibri"/>
                        <a:ea typeface="Calibri"/>
                        <a:cs typeface="Calibri"/>
                        <a:sym typeface="Calibri"/>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solidFill>
                          <a:schemeClr val="dk1"/>
                        </a:solidFill>
                        <a:latin typeface="Calibri"/>
                        <a:ea typeface="Calibri"/>
                        <a:cs typeface="Calibri"/>
                        <a:sym typeface="Calibri"/>
                      </a:endParaRPr>
                    </a:p>
                  </a:txBody>
                  <a:tcPr marL="352425"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51" name="Google Shape;351;p35"/>
          <p:cNvSpPr/>
          <p:nvPr/>
        </p:nvSpPr>
        <p:spPr>
          <a:xfrm>
            <a:off x="571500" y="3504307"/>
            <a:ext cx="4905821"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2" name="Google Shape;352;p35"/>
          <p:cNvSpPr/>
          <p:nvPr/>
        </p:nvSpPr>
        <p:spPr>
          <a:xfrm>
            <a:off x="5477321" y="3504307"/>
            <a:ext cx="292328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3" name="Google Shape;353;p35"/>
          <p:cNvSpPr/>
          <p:nvPr/>
        </p:nvSpPr>
        <p:spPr>
          <a:xfrm>
            <a:off x="8400603" y="3504307"/>
            <a:ext cx="321989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4" name="Google Shape;354;p35"/>
          <p:cNvSpPr/>
          <p:nvPr/>
        </p:nvSpPr>
        <p:spPr>
          <a:xfrm>
            <a:off x="571500" y="4268092"/>
            <a:ext cx="4905821"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5" name="Google Shape;355;p35"/>
          <p:cNvSpPr/>
          <p:nvPr/>
        </p:nvSpPr>
        <p:spPr>
          <a:xfrm>
            <a:off x="5477321" y="4268092"/>
            <a:ext cx="292328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6" name="Google Shape;356;p35"/>
          <p:cNvSpPr/>
          <p:nvPr/>
        </p:nvSpPr>
        <p:spPr>
          <a:xfrm>
            <a:off x="8400603" y="4268092"/>
            <a:ext cx="321989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7" name="Google Shape;357;p35"/>
          <p:cNvSpPr/>
          <p:nvPr/>
        </p:nvSpPr>
        <p:spPr>
          <a:xfrm>
            <a:off x="571500" y="5031878"/>
            <a:ext cx="4905821"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8" name="Google Shape;358;p35"/>
          <p:cNvSpPr/>
          <p:nvPr/>
        </p:nvSpPr>
        <p:spPr>
          <a:xfrm>
            <a:off x="5477321" y="5031878"/>
            <a:ext cx="292328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9" name="Google Shape;359;p35"/>
          <p:cNvSpPr/>
          <p:nvPr/>
        </p:nvSpPr>
        <p:spPr>
          <a:xfrm>
            <a:off x="8400603" y="5031878"/>
            <a:ext cx="321989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0" name="Google Shape;360;p35"/>
          <p:cNvSpPr/>
          <p:nvPr/>
        </p:nvSpPr>
        <p:spPr>
          <a:xfrm>
            <a:off x="571500" y="5795664"/>
            <a:ext cx="4905821"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1" name="Google Shape;361;p35"/>
          <p:cNvSpPr/>
          <p:nvPr/>
        </p:nvSpPr>
        <p:spPr>
          <a:xfrm>
            <a:off x="5477321" y="5795664"/>
            <a:ext cx="292328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2" name="Google Shape;362;p35"/>
          <p:cNvSpPr/>
          <p:nvPr/>
        </p:nvSpPr>
        <p:spPr>
          <a:xfrm>
            <a:off x="8400603" y="5795664"/>
            <a:ext cx="321989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63" name="Google Shape;363;p35" descr="image.png"/>
          <p:cNvPicPr preferRelativeResize="0"/>
          <p:nvPr/>
        </p:nvPicPr>
        <p:blipFill rotWithShape="1">
          <a:blip r:embed="rId4">
            <a:alphaModFix/>
          </a:blip>
          <a:srcRect/>
          <a:stretch/>
        </p:blipFill>
        <p:spPr>
          <a:xfrm>
            <a:off x="6819900" y="4530030"/>
            <a:ext cx="238125" cy="266700"/>
          </a:xfrm>
          <a:prstGeom prst="rect">
            <a:avLst/>
          </a:prstGeom>
          <a:noFill/>
          <a:ln>
            <a:noFill/>
          </a:ln>
        </p:spPr>
      </p:pic>
      <p:pic>
        <p:nvPicPr>
          <p:cNvPr id="364" name="Google Shape;364;p35" descr="image.png"/>
          <p:cNvPicPr preferRelativeResize="0"/>
          <p:nvPr/>
        </p:nvPicPr>
        <p:blipFill rotWithShape="1">
          <a:blip r:embed="rId5">
            <a:alphaModFix/>
          </a:blip>
          <a:srcRect/>
          <a:stretch/>
        </p:blipFill>
        <p:spPr>
          <a:xfrm>
            <a:off x="9891414" y="5293816"/>
            <a:ext cx="238125" cy="266700"/>
          </a:xfrm>
          <a:prstGeom prst="rect">
            <a:avLst/>
          </a:prstGeom>
          <a:noFill/>
          <a:ln>
            <a:noFill/>
          </a:ln>
        </p:spPr>
      </p:pic>
      <p:pic>
        <p:nvPicPr>
          <p:cNvPr id="365" name="Google Shape;365;p35" descr="image.png"/>
          <p:cNvPicPr preferRelativeResize="0"/>
          <p:nvPr/>
        </p:nvPicPr>
        <p:blipFill rotWithShape="1">
          <a:blip r:embed="rId6">
            <a:alphaModFix/>
          </a:blip>
          <a:srcRect/>
          <a:stretch/>
        </p:blipFill>
        <p:spPr>
          <a:xfrm>
            <a:off x="6819900" y="3002458"/>
            <a:ext cx="238125" cy="266700"/>
          </a:xfrm>
          <a:prstGeom prst="rect">
            <a:avLst/>
          </a:prstGeom>
          <a:noFill/>
          <a:ln>
            <a:noFill/>
          </a:ln>
        </p:spPr>
      </p:pic>
      <p:pic>
        <p:nvPicPr>
          <p:cNvPr id="366" name="Google Shape;366;p35" descr="image.png"/>
          <p:cNvPicPr preferRelativeResize="0"/>
          <p:nvPr/>
        </p:nvPicPr>
        <p:blipFill rotWithShape="1">
          <a:blip r:embed="rId7">
            <a:alphaModFix/>
          </a:blip>
          <a:srcRect/>
          <a:stretch/>
        </p:blipFill>
        <p:spPr>
          <a:xfrm>
            <a:off x="9891414" y="3766244"/>
            <a:ext cx="238125" cy="266700"/>
          </a:xfrm>
          <a:prstGeom prst="rect">
            <a:avLst/>
          </a:prstGeom>
          <a:noFill/>
          <a:ln>
            <a:noFill/>
          </a:ln>
        </p:spPr>
      </p:pic>
      <p:pic>
        <p:nvPicPr>
          <p:cNvPr id="367" name="Google Shape;367;p35" descr="image.png"/>
          <p:cNvPicPr preferRelativeResize="0"/>
          <p:nvPr/>
        </p:nvPicPr>
        <p:blipFill rotWithShape="1">
          <a:blip r:embed="rId6">
            <a:alphaModFix/>
          </a:blip>
          <a:srcRect/>
          <a:stretch/>
        </p:blipFill>
        <p:spPr>
          <a:xfrm>
            <a:off x="6819900" y="3002458"/>
            <a:ext cx="238125" cy="266700"/>
          </a:xfrm>
          <a:prstGeom prst="rect">
            <a:avLst/>
          </a:prstGeom>
          <a:noFill/>
          <a:ln>
            <a:noFill/>
          </a:ln>
        </p:spPr>
      </p:pic>
      <p:pic>
        <p:nvPicPr>
          <p:cNvPr id="368" name="Google Shape;368;p35" descr="image.png"/>
          <p:cNvPicPr preferRelativeResize="0"/>
          <p:nvPr/>
        </p:nvPicPr>
        <p:blipFill rotWithShape="1">
          <a:blip r:embed="rId7">
            <a:alphaModFix/>
          </a:blip>
          <a:srcRect/>
          <a:stretch/>
        </p:blipFill>
        <p:spPr>
          <a:xfrm>
            <a:off x="9891414" y="3766244"/>
            <a:ext cx="238125" cy="266700"/>
          </a:xfrm>
          <a:prstGeom prst="rect">
            <a:avLst/>
          </a:prstGeom>
          <a:noFill/>
          <a:ln>
            <a:noFill/>
          </a:ln>
        </p:spPr>
      </p:pic>
      <p:pic>
        <p:nvPicPr>
          <p:cNvPr id="369" name="Google Shape;369;p35" descr="image.png"/>
          <p:cNvPicPr preferRelativeResize="0"/>
          <p:nvPr/>
        </p:nvPicPr>
        <p:blipFill rotWithShape="1">
          <a:blip r:embed="rId4">
            <a:alphaModFix/>
          </a:blip>
          <a:srcRect/>
          <a:stretch/>
        </p:blipFill>
        <p:spPr>
          <a:xfrm>
            <a:off x="6819900" y="4530030"/>
            <a:ext cx="238125" cy="266700"/>
          </a:xfrm>
          <a:prstGeom prst="rect">
            <a:avLst/>
          </a:prstGeom>
          <a:noFill/>
          <a:ln>
            <a:noFill/>
          </a:ln>
        </p:spPr>
      </p:pic>
      <p:pic>
        <p:nvPicPr>
          <p:cNvPr id="370" name="Google Shape;370;p35" descr="image.png"/>
          <p:cNvPicPr preferRelativeResize="0"/>
          <p:nvPr/>
        </p:nvPicPr>
        <p:blipFill rotWithShape="1">
          <a:blip r:embed="rId5">
            <a:alphaModFix/>
          </a:blip>
          <a:srcRect/>
          <a:stretch/>
        </p:blipFill>
        <p:spPr>
          <a:xfrm>
            <a:off x="9891414" y="5293816"/>
            <a:ext cx="238125" cy="266700"/>
          </a:xfrm>
          <a:prstGeom prst="rect">
            <a:avLst/>
          </a:prstGeom>
          <a:noFill/>
          <a:ln>
            <a:noFill/>
          </a:ln>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374"/>
        <p:cNvGrpSpPr/>
        <p:nvPr/>
      </p:nvGrpSpPr>
      <p:grpSpPr>
        <a:xfrm>
          <a:off x="0" y="0"/>
          <a:ext cx="0" cy="0"/>
          <a:chOff x="0" y="0"/>
          <a:chExt cx="0" cy="0"/>
        </a:xfrm>
      </p:grpSpPr>
      <p:pic>
        <p:nvPicPr>
          <p:cNvPr id="375" name="Google Shape;375;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76" name="Google Shape;376;p36" descr="image.png"/>
          <p:cNvPicPr preferRelativeResize="0"/>
          <p:nvPr/>
        </p:nvPicPr>
        <p:blipFill rotWithShape="1">
          <a:blip r:embed="rId4">
            <a:alphaModFix/>
          </a:blip>
          <a:srcRect/>
          <a:stretch/>
        </p:blipFill>
        <p:spPr>
          <a:xfrm>
            <a:off x="571500" y="2597646"/>
            <a:ext cx="5286375" cy="2615207"/>
          </a:xfrm>
          <a:prstGeom prst="rect">
            <a:avLst/>
          </a:prstGeom>
          <a:noFill/>
          <a:ln>
            <a:noFill/>
          </a:ln>
        </p:spPr>
      </p:pic>
      <p:pic>
        <p:nvPicPr>
          <p:cNvPr id="377" name="Google Shape;377;p36" descr="image.png"/>
          <p:cNvPicPr preferRelativeResize="0"/>
          <p:nvPr/>
        </p:nvPicPr>
        <p:blipFill rotWithShape="1">
          <a:blip r:embed="rId5">
            <a:alphaModFix/>
          </a:blip>
          <a:srcRect/>
          <a:stretch/>
        </p:blipFill>
        <p:spPr>
          <a:xfrm>
            <a:off x="6334125" y="2597646"/>
            <a:ext cx="5286375" cy="2615207"/>
          </a:xfrm>
          <a:prstGeom prst="rect">
            <a:avLst/>
          </a:prstGeom>
          <a:noFill/>
          <a:ln>
            <a:noFill/>
          </a:ln>
        </p:spPr>
      </p:pic>
      <p:sp>
        <p:nvSpPr>
          <p:cNvPr id="378" name="Google Shape;378;p36"/>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PHÂN TÍCH TÌNH HUỐNG</a:t>
            </a:r>
            <a:endParaRPr/>
          </a:p>
        </p:txBody>
      </p:sp>
      <p:sp>
        <p:nvSpPr>
          <p:cNvPr id="379" name="Google Shape;379;p36"/>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0" name="Google Shape;380;p36"/>
          <p:cNvSpPr txBox="1"/>
          <p:nvPr/>
        </p:nvSpPr>
        <p:spPr>
          <a:xfrm>
            <a:off x="962025" y="2988171"/>
            <a:ext cx="4730591"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D4A373"/>
                </a:solidFill>
                <a:latin typeface="#9Slide02 Noi dung dai" panose="02000000000000000000" pitchFamily="2" charset="0"/>
                <a:ea typeface="#9Slide02 Noi dung dai" panose="02000000000000000000" pitchFamily="2" charset="0"/>
                <a:cs typeface="Poppins"/>
                <a:sym typeface="Poppins"/>
              </a:rPr>
              <a:t>Câu hỏi</a:t>
            </a:r>
            <a:endParaRPr/>
          </a:p>
        </p:txBody>
      </p:sp>
      <p:sp>
        <p:nvSpPr>
          <p:cNvPr id="381" name="Google Shape;381;p36"/>
          <p:cNvSpPr txBox="1"/>
          <p:nvPr/>
        </p:nvSpPr>
        <p:spPr>
          <a:xfrm>
            <a:off x="962025" y="3702546"/>
            <a:ext cx="4505325" cy="135729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Tại sao một số loài cây chỉ có thể sống ở dưới tán rừng, trong khi loài khác lại cần ánh sáng mạnh?</a:t>
            </a:r>
            <a:endParaRPr/>
          </a:p>
        </p:txBody>
      </p:sp>
      <p:sp>
        <p:nvSpPr>
          <p:cNvPr id="382" name="Google Shape;382;p36"/>
          <p:cNvSpPr txBox="1"/>
          <p:nvPr/>
        </p:nvSpPr>
        <p:spPr>
          <a:xfrm>
            <a:off x="6724650" y="2988171"/>
            <a:ext cx="4730591"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D4A373"/>
                </a:solidFill>
                <a:latin typeface="#9Slide02 Noi dung dai" panose="02000000000000000000" pitchFamily="2" charset="0"/>
                <a:ea typeface="#9Slide02 Noi dung dai" panose="02000000000000000000" pitchFamily="2" charset="0"/>
                <a:cs typeface="Poppins"/>
                <a:sym typeface="Poppins"/>
              </a:rPr>
              <a:t>Giải đáp</a:t>
            </a:r>
            <a:endParaRPr/>
          </a:p>
        </p:txBody>
      </p:sp>
      <p:sp>
        <p:nvSpPr>
          <p:cNvPr id="383" name="Google Shape;383;p36"/>
          <p:cNvSpPr txBox="1"/>
          <p:nvPr/>
        </p:nvSpPr>
        <p:spPr>
          <a:xfrm>
            <a:off x="6724650" y="3702546"/>
            <a:ext cx="4505325" cy="135729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Do giới hạn sinh thái về ánh sáng của chúng khác nhau: Cây ưa bóng và cây ưa sáng.</a:t>
            </a:r>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387"/>
        <p:cNvGrpSpPr/>
        <p:nvPr/>
      </p:nvGrpSpPr>
      <p:grpSpPr>
        <a:xfrm>
          <a:off x="0" y="0"/>
          <a:ext cx="0" cy="0"/>
          <a:chOff x="0" y="0"/>
          <a:chExt cx="0" cy="0"/>
        </a:xfrm>
      </p:grpSpPr>
      <p:pic>
        <p:nvPicPr>
          <p:cNvPr id="388" name="Google Shape;388;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89" name="Google Shape;389;p37" descr="image.png"/>
          <p:cNvPicPr preferRelativeResize="0"/>
          <p:nvPr/>
        </p:nvPicPr>
        <p:blipFill rotWithShape="1">
          <a:blip r:embed="rId4">
            <a:alphaModFix/>
          </a:blip>
          <a:srcRect/>
          <a:stretch/>
        </p:blipFill>
        <p:spPr>
          <a:xfrm>
            <a:off x="571500" y="1813619"/>
            <a:ext cx="3114228" cy="3810000"/>
          </a:xfrm>
          <a:prstGeom prst="rect">
            <a:avLst/>
          </a:prstGeom>
          <a:noFill/>
          <a:ln>
            <a:noFill/>
          </a:ln>
        </p:spPr>
      </p:pic>
      <p:pic>
        <p:nvPicPr>
          <p:cNvPr id="390" name="Google Shape;390;p37" descr="image.png"/>
          <p:cNvPicPr preferRelativeResize="0"/>
          <p:nvPr/>
        </p:nvPicPr>
        <p:blipFill rotWithShape="1">
          <a:blip r:embed="rId5">
            <a:alphaModFix/>
          </a:blip>
          <a:srcRect/>
          <a:stretch/>
        </p:blipFill>
        <p:spPr>
          <a:xfrm>
            <a:off x="3971478" y="1813619"/>
            <a:ext cx="3494037" cy="3810000"/>
          </a:xfrm>
          <a:prstGeom prst="rect">
            <a:avLst/>
          </a:prstGeom>
          <a:noFill/>
          <a:ln>
            <a:noFill/>
          </a:ln>
        </p:spPr>
      </p:pic>
      <p:pic>
        <p:nvPicPr>
          <p:cNvPr id="391" name="Google Shape;391;p37" descr="image.png"/>
          <p:cNvPicPr preferRelativeResize="0"/>
          <p:nvPr/>
        </p:nvPicPr>
        <p:blipFill rotWithShape="1">
          <a:blip r:embed="rId6">
            <a:alphaModFix/>
          </a:blip>
          <a:srcRect/>
          <a:stretch/>
        </p:blipFill>
        <p:spPr>
          <a:xfrm>
            <a:off x="7751266" y="1813619"/>
            <a:ext cx="3869233" cy="3810000"/>
          </a:xfrm>
          <a:prstGeom prst="rect">
            <a:avLst/>
          </a:prstGeom>
          <a:noFill/>
          <a:ln>
            <a:noFill/>
          </a:ln>
        </p:spPr>
      </p:pic>
      <p:sp>
        <p:nvSpPr>
          <p:cNvPr id="392" name="Google Shape;392;p37"/>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XÁC ĐỊNH MÔI TRƯỜNG SỐNG</a:t>
            </a:r>
            <a:endParaRPr/>
          </a:p>
        </p:txBody>
      </p:sp>
      <p:sp>
        <p:nvSpPr>
          <p:cNvPr id="393" name="Google Shape;393;p37"/>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4" name="Google Shape;394;p37"/>
          <p:cNvSpPr txBox="1"/>
          <p:nvPr/>
        </p:nvSpPr>
        <p:spPr>
          <a:xfrm>
            <a:off x="571500" y="5623619"/>
            <a:ext cx="3114228"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Giun đất</a:t>
            </a:r>
            <a:endParaRPr/>
          </a:p>
        </p:txBody>
      </p:sp>
      <p:sp>
        <p:nvSpPr>
          <p:cNvPr id="395" name="Google Shape;395;p37"/>
          <p:cNvSpPr txBox="1"/>
          <p:nvPr/>
        </p:nvSpPr>
        <p:spPr>
          <a:xfrm>
            <a:off x="5012237" y="5712177"/>
            <a:ext cx="3494037"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Cá rô phi</a:t>
            </a:r>
            <a:endParaRPr/>
          </a:p>
        </p:txBody>
      </p:sp>
      <p:sp>
        <p:nvSpPr>
          <p:cNvPr id="396" name="Google Shape;396;p37"/>
          <p:cNvSpPr txBox="1"/>
          <p:nvPr/>
        </p:nvSpPr>
        <p:spPr>
          <a:xfrm>
            <a:off x="9117079" y="5485961"/>
            <a:ext cx="3869233"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Sán lá gan</a:t>
            </a:r>
            <a:endParaRPr/>
          </a:p>
        </p:txBody>
      </p:sp>
      <p:pic>
        <p:nvPicPr>
          <p:cNvPr id="398" name="Google Shape;398;p37" descr="image.png"/>
          <p:cNvPicPr preferRelativeResize="0"/>
          <p:nvPr/>
        </p:nvPicPr>
        <p:blipFill rotWithShape="1">
          <a:blip r:embed="rId7">
            <a:alphaModFix/>
          </a:blip>
          <a:srcRect/>
          <a:stretch/>
        </p:blipFill>
        <p:spPr>
          <a:xfrm>
            <a:off x="4085778" y="1813619"/>
            <a:ext cx="3417837" cy="3733800"/>
          </a:xfrm>
          <a:prstGeom prst="rect">
            <a:avLst/>
          </a:prstGeom>
          <a:noFill/>
          <a:ln>
            <a:noFill/>
          </a:ln>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403"/>
        <p:cNvGrpSpPr/>
        <p:nvPr/>
      </p:nvGrpSpPr>
      <p:grpSpPr>
        <a:xfrm>
          <a:off x="0" y="0"/>
          <a:ext cx="0" cy="0"/>
          <a:chOff x="0" y="0"/>
          <a:chExt cx="0" cy="0"/>
        </a:xfrm>
      </p:grpSpPr>
      <p:pic>
        <p:nvPicPr>
          <p:cNvPr id="404" name="Google Shape;404;p38" descr="image.png"/>
          <p:cNvPicPr preferRelativeResize="0"/>
          <p:nvPr/>
        </p:nvPicPr>
        <p:blipFill rotWithShape="1">
          <a:blip r:embed="rId3">
            <a:alphaModFix/>
          </a:blip>
          <a:srcRect/>
          <a:stretch/>
        </p:blipFill>
        <p:spPr>
          <a:xfrm>
            <a:off x="0" y="2419"/>
            <a:ext cx="12192000" cy="6858000"/>
          </a:xfrm>
          <a:prstGeom prst="rect">
            <a:avLst/>
          </a:prstGeom>
          <a:noFill/>
          <a:ln>
            <a:noFill/>
          </a:ln>
        </p:spPr>
      </p:pic>
      <p:sp>
        <p:nvSpPr>
          <p:cNvPr id="405" name="Google Shape;405;p38"/>
          <p:cNvSpPr/>
          <p:nvPr/>
        </p:nvSpPr>
        <p:spPr>
          <a:xfrm rot="16200000" flipV="1">
            <a:off x="855683" y="3215592"/>
            <a:ext cx="1015076" cy="110562"/>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6" name="Google Shape;406;p38"/>
          <p:cNvSpPr txBox="1"/>
          <p:nvPr/>
        </p:nvSpPr>
        <p:spPr>
          <a:xfrm>
            <a:off x="-86690" y="2809208"/>
            <a:ext cx="1160145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Vận dụng</a:t>
            </a:r>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410"/>
        <p:cNvGrpSpPr/>
        <p:nvPr/>
      </p:nvGrpSpPr>
      <p:grpSpPr>
        <a:xfrm>
          <a:off x="0" y="0"/>
          <a:ext cx="0" cy="0"/>
          <a:chOff x="0" y="0"/>
          <a:chExt cx="0" cy="0"/>
        </a:xfrm>
      </p:grpSpPr>
      <p:pic>
        <p:nvPicPr>
          <p:cNvPr id="412" name="Google Shape;412;p39" descr="image.png"/>
          <p:cNvPicPr preferRelativeResize="0"/>
          <p:nvPr/>
        </p:nvPicPr>
        <p:blipFill rotWithShape="1">
          <a:blip r:embed="rId3">
            <a:alphaModFix/>
          </a:blip>
          <a:srcRect/>
          <a:stretch/>
        </p:blipFill>
        <p:spPr>
          <a:xfrm>
            <a:off x="6334125" y="2000250"/>
            <a:ext cx="5286375" cy="3810000"/>
          </a:xfrm>
          <a:prstGeom prst="rect">
            <a:avLst/>
          </a:prstGeom>
          <a:noFill/>
          <a:ln>
            <a:noFill/>
          </a:ln>
        </p:spPr>
      </p:pic>
      <p:sp>
        <p:nvSpPr>
          <p:cNvPr id="413" name="Google Shape;413;p39"/>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ỨNG DỤNG TRONG CHĂN NUÔI</a:t>
            </a:r>
            <a:endParaRPr/>
          </a:p>
        </p:txBody>
      </p:sp>
      <p:sp>
        <p:nvSpPr>
          <p:cNvPr id="414" name="Google Shape;414;p39"/>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15" name="Google Shape;415;p39" descr="image.png"/>
          <p:cNvPicPr preferRelativeResize="0"/>
          <p:nvPr/>
        </p:nvPicPr>
        <p:blipFill rotWithShape="1">
          <a:blip r:embed="rId4">
            <a:alphaModFix/>
          </a:blip>
          <a:srcRect/>
          <a:stretch/>
        </p:blipFill>
        <p:spPr>
          <a:xfrm>
            <a:off x="3045366" y="3051243"/>
            <a:ext cx="5210175" cy="3733800"/>
          </a:xfrm>
          <a:prstGeom prst="rect">
            <a:avLst/>
          </a:prstGeom>
          <a:noFill/>
          <a:ln>
            <a:noFill/>
          </a:ln>
        </p:spPr>
      </p:pic>
      <p:sp>
        <p:nvSpPr>
          <p:cNvPr id="416" name="Google Shape;416;p39"/>
          <p:cNvSpPr txBox="1"/>
          <p:nvPr/>
        </p:nvSpPr>
        <p:spPr>
          <a:xfrm>
            <a:off x="762000" y="1274477"/>
            <a:ext cx="10439400"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Hiểu giới hạn nhiệt độ để sưởi ấm cho gia súc vào mùa đông.</a:t>
            </a:r>
            <a:endParaRPr/>
          </a:p>
        </p:txBody>
      </p:sp>
      <p:sp>
        <p:nvSpPr>
          <p:cNvPr id="417" name="Google Shape;417;p39"/>
          <p:cNvSpPr txBox="1"/>
          <p:nvPr/>
        </p:nvSpPr>
        <p:spPr>
          <a:xfrm>
            <a:off x="724744" y="1742005"/>
            <a:ext cx="11218761"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Điều chỉnh độ ẩm để cây trồng phát triển tốt nhất (khoảng cực thuận).</a:t>
            </a:r>
            <a:endParaRPr/>
          </a:p>
        </p:txBody>
      </p:sp>
      <p:sp>
        <p:nvSpPr>
          <p:cNvPr id="418" name="Google Shape;418;p39"/>
          <p:cNvSpPr txBox="1"/>
          <p:nvPr/>
        </p:nvSpPr>
        <p:spPr>
          <a:xfrm>
            <a:off x="762000" y="2321723"/>
            <a:ext cx="11218762"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Trồng xen canh các loài có giới hạn ánh sáng khác nhau để tối ưu diện tích.</a:t>
            </a:r>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422"/>
        <p:cNvGrpSpPr/>
        <p:nvPr/>
      </p:nvGrpSpPr>
      <p:grpSpPr>
        <a:xfrm>
          <a:off x="0" y="0"/>
          <a:ext cx="0" cy="0"/>
          <a:chOff x="0" y="0"/>
          <a:chExt cx="0" cy="0"/>
        </a:xfrm>
      </p:grpSpPr>
      <p:pic>
        <p:nvPicPr>
          <p:cNvPr id="423" name="Google Shape;423;p4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24" name="Google Shape;424;p40"/>
          <p:cNvSpPr txBox="1"/>
          <p:nvPr/>
        </p:nvSpPr>
        <p:spPr>
          <a:xfrm>
            <a:off x="3910314" y="626417"/>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KIẾN THỨC TRỌNG TÂM</a:t>
            </a:r>
            <a:endParaRPr/>
          </a:p>
        </p:txBody>
      </p:sp>
      <p:sp>
        <p:nvSpPr>
          <p:cNvPr id="425" name="Google Shape;425;p40"/>
          <p:cNvSpPr/>
          <p:nvPr/>
        </p:nvSpPr>
        <p:spPr>
          <a:xfrm>
            <a:off x="3638791" y="571499"/>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6" name="Google Shape;426;p40"/>
          <p:cNvSpPr txBox="1"/>
          <p:nvPr/>
        </p:nvSpPr>
        <p:spPr>
          <a:xfrm>
            <a:off x="1143000" y="2682478"/>
            <a:ext cx="10477500"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Môi trường là nơi sống, cung cấp nguồn sống cho sinh vật.</a:t>
            </a:r>
            <a:endParaRPr/>
          </a:p>
        </p:txBody>
      </p:sp>
      <p:sp>
        <p:nvSpPr>
          <p:cNvPr id="427" name="Google Shape;427;p40"/>
          <p:cNvSpPr txBox="1"/>
          <p:nvPr/>
        </p:nvSpPr>
        <p:spPr>
          <a:xfrm>
            <a:off x="1143000" y="3293864"/>
            <a:ext cx="10477500"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Nhân tố sinh thái gồm nhóm vô sinh và hữu sinh (có con người).</a:t>
            </a:r>
            <a:endParaRPr/>
          </a:p>
        </p:txBody>
      </p:sp>
      <p:sp>
        <p:nvSpPr>
          <p:cNvPr id="428" name="Google Shape;428;p40"/>
          <p:cNvSpPr txBox="1"/>
          <p:nvPr/>
        </p:nvSpPr>
        <p:spPr>
          <a:xfrm>
            <a:off x="1143000" y="3905250"/>
            <a:ext cx="10477500"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Giới hạn sinh thái xác định sự phân bố và tồn tại của loài.</a:t>
            </a:r>
            <a:endParaRPr/>
          </a:p>
        </p:txBody>
      </p:sp>
      <p:sp>
        <p:nvSpPr>
          <p:cNvPr id="429" name="Google Shape;429;p40"/>
          <p:cNvSpPr txBox="1"/>
          <p:nvPr/>
        </p:nvSpPr>
        <p:spPr>
          <a:xfrm>
            <a:off x="1143000" y="4516635"/>
            <a:ext cx="10477500"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Hiểu biết về môi trường giúp con người bảo vệ thiên nhiên bền vững.</a:t>
            </a:r>
            <a:endParaRPr/>
          </a:p>
        </p:txBody>
      </p:sp>
      <p:pic>
        <p:nvPicPr>
          <p:cNvPr id="430" name="Google Shape;430;p40" descr="image.png"/>
          <p:cNvPicPr preferRelativeResize="0"/>
          <p:nvPr/>
        </p:nvPicPr>
        <p:blipFill rotWithShape="1">
          <a:blip r:embed="rId4">
            <a:alphaModFix/>
          </a:blip>
          <a:srcRect/>
          <a:stretch/>
        </p:blipFill>
        <p:spPr>
          <a:xfrm>
            <a:off x="571500" y="2725340"/>
            <a:ext cx="371475" cy="342900"/>
          </a:xfrm>
          <a:prstGeom prst="rect">
            <a:avLst/>
          </a:prstGeom>
          <a:noFill/>
          <a:ln>
            <a:noFill/>
          </a:ln>
        </p:spPr>
      </p:pic>
      <p:pic>
        <p:nvPicPr>
          <p:cNvPr id="431" name="Google Shape;431;p40" descr="image.png"/>
          <p:cNvPicPr preferRelativeResize="0"/>
          <p:nvPr/>
        </p:nvPicPr>
        <p:blipFill rotWithShape="1">
          <a:blip r:embed="rId4">
            <a:alphaModFix/>
          </a:blip>
          <a:srcRect/>
          <a:stretch/>
        </p:blipFill>
        <p:spPr>
          <a:xfrm>
            <a:off x="571500" y="3336726"/>
            <a:ext cx="371475" cy="342900"/>
          </a:xfrm>
          <a:prstGeom prst="rect">
            <a:avLst/>
          </a:prstGeom>
          <a:noFill/>
          <a:ln>
            <a:noFill/>
          </a:ln>
        </p:spPr>
      </p:pic>
      <p:pic>
        <p:nvPicPr>
          <p:cNvPr id="432" name="Google Shape;432;p40" descr="image.png"/>
          <p:cNvPicPr preferRelativeResize="0"/>
          <p:nvPr/>
        </p:nvPicPr>
        <p:blipFill rotWithShape="1">
          <a:blip r:embed="rId4">
            <a:alphaModFix/>
          </a:blip>
          <a:srcRect/>
          <a:stretch/>
        </p:blipFill>
        <p:spPr>
          <a:xfrm>
            <a:off x="571500" y="3948112"/>
            <a:ext cx="371475" cy="342900"/>
          </a:xfrm>
          <a:prstGeom prst="rect">
            <a:avLst/>
          </a:prstGeom>
          <a:noFill/>
          <a:ln>
            <a:noFill/>
          </a:ln>
        </p:spPr>
      </p:pic>
      <p:pic>
        <p:nvPicPr>
          <p:cNvPr id="433" name="Google Shape;433;p40" descr="image.png"/>
          <p:cNvPicPr preferRelativeResize="0"/>
          <p:nvPr/>
        </p:nvPicPr>
        <p:blipFill rotWithShape="1">
          <a:blip r:embed="rId4">
            <a:alphaModFix/>
          </a:blip>
          <a:srcRect/>
          <a:stretch/>
        </p:blipFill>
        <p:spPr>
          <a:xfrm>
            <a:off x="571500" y="4559498"/>
            <a:ext cx="371475" cy="342900"/>
          </a:xfrm>
          <a:prstGeom prst="rect">
            <a:avLst/>
          </a:prstGeom>
          <a:noFill/>
          <a:ln>
            <a:noFill/>
          </a:ln>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437"/>
        <p:cNvGrpSpPr/>
        <p:nvPr/>
      </p:nvGrpSpPr>
      <p:grpSpPr>
        <a:xfrm>
          <a:off x="0" y="0"/>
          <a:ext cx="0" cy="0"/>
          <a:chOff x="0" y="0"/>
          <a:chExt cx="0" cy="0"/>
        </a:xfrm>
      </p:grpSpPr>
      <p:pic>
        <p:nvPicPr>
          <p:cNvPr id="439" name="Google Shape;439;p41" descr="image.png"/>
          <p:cNvPicPr preferRelativeResize="0"/>
          <p:nvPr/>
        </p:nvPicPr>
        <p:blipFill rotWithShape="1">
          <a:blip r:embed="rId3">
            <a:alphaModFix/>
          </a:blip>
          <a:srcRect/>
          <a:stretch/>
        </p:blipFill>
        <p:spPr>
          <a:xfrm>
            <a:off x="575841" y="3254871"/>
            <a:ext cx="2430660" cy="2253257"/>
          </a:xfrm>
          <a:prstGeom prst="rect">
            <a:avLst/>
          </a:prstGeom>
          <a:noFill/>
          <a:ln>
            <a:noFill/>
          </a:ln>
        </p:spPr>
      </p:pic>
      <p:pic>
        <p:nvPicPr>
          <p:cNvPr id="440" name="Google Shape;440;p41" descr="image.png"/>
          <p:cNvPicPr preferRelativeResize="0"/>
          <p:nvPr/>
        </p:nvPicPr>
        <p:blipFill rotWithShape="1">
          <a:blip r:embed="rId4">
            <a:alphaModFix/>
          </a:blip>
          <a:srcRect/>
          <a:stretch/>
        </p:blipFill>
        <p:spPr>
          <a:xfrm>
            <a:off x="3444179" y="3350121"/>
            <a:ext cx="2430660" cy="2253257"/>
          </a:xfrm>
          <a:prstGeom prst="rect">
            <a:avLst/>
          </a:prstGeom>
          <a:noFill/>
          <a:ln>
            <a:noFill/>
          </a:ln>
        </p:spPr>
      </p:pic>
      <p:pic>
        <p:nvPicPr>
          <p:cNvPr id="441" name="Google Shape;441;p41" descr="image.png"/>
          <p:cNvPicPr preferRelativeResize="0"/>
          <p:nvPr/>
        </p:nvPicPr>
        <p:blipFill rotWithShape="1">
          <a:blip r:embed="rId5">
            <a:alphaModFix/>
          </a:blip>
          <a:srcRect/>
          <a:stretch/>
        </p:blipFill>
        <p:spPr>
          <a:xfrm>
            <a:off x="6316860" y="3254871"/>
            <a:ext cx="2430660" cy="2253257"/>
          </a:xfrm>
          <a:prstGeom prst="rect">
            <a:avLst/>
          </a:prstGeom>
          <a:noFill/>
          <a:ln>
            <a:noFill/>
          </a:ln>
        </p:spPr>
      </p:pic>
      <p:pic>
        <p:nvPicPr>
          <p:cNvPr id="442" name="Google Shape;442;p41" descr="image.png"/>
          <p:cNvPicPr preferRelativeResize="0"/>
          <p:nvPr/>
        </p:nvPicPr>
        <p:blipFill rotWithShape="1">
          <a:blip r:embed="rId4">
            <a:alphaModFix/>
          </a:blip>
          <a:srcRect/>
          <a:stretch/>
        </p:blipFill>
        <p:spPr>
          <a:xfrm>
            <a:off x="9189541" y="3254871"/>
            <a:ext cx="2430660" cy="2253257"/>
          </a:xfrm>
          <a:prstGeom prst="rect">
            <a:avLst/>
          </a:prstGeom>
          <a:noFill/>
          <a:ln>
            <a:noFill/>
          </a:ln>
        </p:spPr>
      </p:pic>
      <p:sp>
        <p:nvSpPr>
          <p:cNvPr id="443" name="Google Shape;443;p41"/>
          <p:cNvSpPr txBox="1"/>
          <p:nvPr/>
        </p:nvSpPr>
        <p:spPr>
          <a:xfrm>
            <a:off x="762000" y="571500"/>
            <a:ext cx="1140142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LỘ TRÌNH HỌC TẬP TIẾP THEO</a:t>
            </a:r>
            <a:endParaRPr>
              <a:latin typeface="#9Slide02 Noi dung dai" panose="02000000000000000000" pitchFamily="2" charset="0"/>
              <a:ea typeface="#9Slide02 Noi dung dai" panose="02000000000000000000" pitchFamily="2" charset="0"/>
            </a:endParaRPr>
          </a:p>
        </p:txBody>
      </p:sp>
      <p:sp>
        <p:nvSpPr>
          <p:cNvPr id="444" name="Google Shape;444;p41"/>
          <p:cNvSpPr/>
          <p:nvPr/>
        </p:nvSpPr>
        <p:spPr>
          <a:xfrm>
            <a:off x="571500" y="571500"/>
            <a:ext cx="76200" cy="571500"/>
          </a:xfrm>
          <a:prstGeom prst="rect">
            <a:avLst/>
          </a:prstGeom>
          <a:solidFill>
            <a:srgbClr val="D4A37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5" name="Google Shape;445;p41"/>
          <p:cNvSpPr/>
          <p:nvPr/>
        </p:nvSpPr>
        <p:spPr>
          <a:xfrm>
            <a:off x="571500" y="4381500"/>
            <a:ext cx="11049000" cy="57150"/>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6" name="Google Shape;446;p41"/>
          <p:cNvSpPr txBox="1"/>
          <p:nvPr/>
        </p:nvSpPr>
        <p:spPr>
          <a:xfrm>
            <a:off x="710758" y="2261760"/>
            <a:ext cx="2152143"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Củng cố</a:t>
            </a:r>
            <a:endParaRPr sz="2000">
              <a:latin typeface="#9Slide02 Noi dung dai" panose="02000000000000000000" pitchFamily="2" charset="0"/>
              <a:ea typeface="#9Slide02 Noi dung dai" panose="02000000000000000000" pitchFamily="2" charset="0"/>
            </a:endParaRPr>
          </a:p>
        </p:txBody>
      </p:sp>
      <p:sp>
        <p:nvSpPr>
          <p:cNvPr id="447" name="Google Shape;447;p41"/>
          <p:cNvSpPr txBox="1"/>
          <p:nvPr/>
        </p:nvSpPr>
        <p:spPr>
          <a:xfrm>
            <a:off x="324322" y="2931766"/>
            <a:ext cx="2436096" cy="135729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Vẽ sơ đồ tư duy về các nhân tố sinh thái.</a:t>
            </a:r>
            <a:endParaRPr/>
          </a:p>
        </p:txBody>
      </p:sp>
      <p:sp>
        <p:nvSpPr>
          <p:cNvPr id="448" name="Google Shape;448;p41"/>
          <p:cNvSpPr txBox="1"/>
          <p:nvPr/>
        </p:nvSpPr>
        <p:spPr>
          <a:xfrm>
            <a:off x="3296735" y="2289393"/>
            <a:ext cx="2152143"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Nghiên cứu</a:t>
            </a:r>
            <a:endParaRPr sz="2000">
              <a:latin typeface="#9Slide02 Noi dung dai" panose="02000000000000000000" pitchFamily="2" charset="0"/>
              <a:ea typeface="#9Slide02 Noi dung dai" panose="02000000000000000000" pitchFamily="2" charset="0"/>
            </a:endParaRPr>
          </a:p>
        </p:txBody>
      </p:sp>
      <p:sp>
        <p:nvSpPr>
          <p:cNvPr id="449" name="Google Shape;449;p41"/>
          <p:cNvSpPr txBox="1"/>
          <p:nvPr/>
        </p:nvSpPr>
        <p:spPr>
          <a:xfrm>
            <a:off x="3122295" y="2880718"/>
            <a:ext cx="2501025" cy="135729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Tìm hiểu giới hạn nhiệt độ của một loài em thích.</a:t>
            </a:r>
            <a:endParaRPr/>
          </a:p>
        </p:txBody>
      </p:sp>
      <p:sp>
        <p:nvSpPr>
          <p:cNvPr id="450" name="Google Shape;450;p41"/>
          <p:cNvSpPr txBox="1"/>
          <p:nvPr/>
        </p:nvSpPr>
        <p:spPr>
          <a:xfrm>
            <a:off x="6295818" y="2305621"/>
            <a:ext cx="2152143"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Chuẩn bị</a:t>
            </a:r>
            <a:endParaRPr sz="2000">
              <a:latin typeface="#9Slide02 Noi dung dai" panose="02000000000000000000" pitchFamily="2" charset="0"/>
              <a:ea typeface="#9Slide02 Noi dung dai" panose="02000000000000000000" pitchFamily="2" charset="0"/>
            </a:endParaRPr>
          </a:p>
        </p:txBody>
      </p:sp>
      <p:sp>
        <p:nvSpPr>
          <p:cNvPr id="451" name="Google Shape;451;p41"/>
          <p:cNvSpPr txBox="1"/>
          <p:nvPr/>
        </p:nvSpPr>
        <p:spPr>
          <a:xfrm>
            <a:off x="6060999" y="3039225"/>
            <a:ext cx="2621782" cy="90486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Đọc trước bài Quần thể sinh vật.</a:t>
            </a:r>
            <a:endParaRPr/>
          </a:p>
        </p:txBody>
      </p:sp>
      <p:sp>
        <p:nvSpPr>
          <p:cNvPr id="452" name="Google Shape;452;p41"/>
          <p:cNvSpPr txBox="1"/>
          <p:nvPr/>
        </p:nvSpPr>
        <p:spPr>
          <a:xfrm>
            <a:off x="9298434" y="2222252"/>
            <a:ext cx="2152143"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i="0" u="none" strike="noStrike" cap="none">
                <a:solidFill>
                  <a:srgbClr val="1B4332"/>
                </a:solidFill>
                <a:latin typeface="#9Slide02 Noi dung dai" panose="02000000000000000000" pitchFamily="2" charset="0"/>
                <a:ea typeface="#9Slide02 Noi dung dai" panose="02000000000000000000" pitchFamily="2" charset="0"/>
                <a:cs typeface="Poppins"/>
                <a:sym typeface="Poppins"/>
              </a:rPr>
              <a:t>Hành động</a:t>
            </a:r>
            <a:endParaRPr sz="2000">
              <a:latin typeface="#9Slide02 Noi dung dai" panose="02000000000000000000" pitchFamily="2" charset="0"/>
              <a:ea typeface="#9Slide02 Noi dung dai" panose="02000000000000000000" pitchFamily="2" charset="0"/>
            </a:endParaRPr>
          </a:p>
        </p:txBody>
      </p:sp>
      <p:sp>
        <p:nvSpPr>
          <p:cNvPr id="453" name="Google Shape;453;p41"/>
          <p:cNvSpPr txBox="1"/>
          <p:nvPr/>
        </p:nvSpPr>
        <p:spPr>
          <a:xfrm>
            <a:off x="9288744" y="2938263"/>
            <a:ext cx="2518004" cy="135729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Trồng 1 cái cây và theo dõi nhân tố vô sinh.</a:t>
            </a:r>
            <a:endParaRPr/>
          </a:p>
        </p:txBody>
      </p:sp>
      <p:sp>
        <p:nvSpPr>
          <p:cNvPr id="454" name="Google Shape;454;p41"/>
          <p:cNvSpPr/>
          <p:nvPr/>
        </p:nvSpPr>
        <p:spPr>
          <a:xfrm>
            <a:off x="1643955" y="5603378"/>
            <a:ext cx="285750" cy="285750"/>
          </a:xfrm>
          <a:prstGeom prst="roundRect">
            <a:avLst>
              <a:gd name="adj" fmla="val 50000"/>
            </a:avLst>
          </a:prstGeom>
          <a:solidFill>
            <a:srgbClr val="1B43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5" name="Google Shape;455;p41"/>
          <p:cNvSpPr/>
          <p:nvPr/>
        </p:nvSpPr>
        <p:spPr>
          <a:xfrm>
            <a:off x="4516635" y="5603378"/>
            <a:ext cx="285750" cy="285750"/>
          </a:xfrm>
          <a:prstGeom prst="roundRect">
            <a:avLst>
              <a:gd name="adj" fmla="val 50000"/>
            </a:avLst>
          </a:prstGeom>
          <a:solidFill>
            <a:srgbClr val="1B43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6" name="Google Shape;456;p41"/>
          <p:cNvSpPr/>
          <p:nvPr/>
        </p:nvSpPr>
        <p:spPr>
          <a:xfrm>
            <a:off x="7389316" y="5603378"/>
            <a:ext cx="285750" cy="285750"/>
          </a:xfrm>
          <a:prstGeom prst="roundRect">
            <a:avLst>
              <a:gd name="adj" fmla="val 50000"/>
            </a:avLst>
          </a:prstGeom>
          <a:solidFill>
            <a:srgbClr val="1B43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7" name="Google Shape;457;p41"/>
          <p:cNvSpPr/>
          <p:nvPr/>
        </p:nvSpPr>
        <p:spPr>
          <a:xfrm>
            <a:off x="10261996" y="5603378"/>
            <a:ext cx="285750" cy="285750"/>
          </a:xfrm>
          <a:prstGeom prst="roundRect">
            <a:avLst>
              <a:gd name="adj" fmla="val 50000"/>
            </a:avLst>
          </a:prstGeom>
          <a:solidFill>
            <a:srgbClr val="1B43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461"/>
        <p:cNvGrpSpPr/>
        <p:nvPr/>
      </p:nvGrpSpPr>
      <p:grpSpPr>
        <a:xfrm>
          <a:off x="0" y="0"/>
          <a:ext cx="0" cy="0"/>
          <a:chOff x="0" y="0"/>
          <a:chExt cx="0" cy="0"/>
        </a:xfrm>
      </p:grpSpPr>
      <p:pic>
        <p:nvPicPr>
          <p:cNvPr id="462" name="Google Shape;462;p4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63" name="Google Shape;463;p42"/>
          <p:cNvSpPr txBox="1"/>
          <p:nvPr/>
        </p:nvSpPr>
        <p:spPr>
          <a:xfrm>
            <a:off x="-3790588" y="2274838"/>
            <a:ext cx="11601450" cy="115416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0" b="1" i="0" u="none" strike="noStrike" cap="none">
                <a:solidFill>
                  <a:srgbClr val="D4A373"/>
                </a:solidFill>
                <a:latin typeface="#9Slide02 Noi dung dai" panose="02000000000000000000" pitchFamily="2" charset="0"/>
                <a:ea typeface="#9Slide02 Noi dung dai" panose="02000000000000000000" pitchFamily="2" charset="0"/>
                <a:cs typeface="Poppins"/>
                <a:sym typeface="Poppins"/>
              </a:rPr>
              <a:t>?</a:t>
            </a:r>
            <a:endParaRPr/>
          </a:p>
        </p:txBody>
      </p:sp>
      <p:sp>
        <p:nvSpPr>
          <p:cNvPr id="464" name="Google Shape;464;p42"/>
          <p:cNvSpPr txBox="1"/>
          <p:nvPr/>
        </p:nvSpPr>
        <p:spPr>
          <a:xfrm>
            <a:off x="571500" y="2000250"/>
            <a:ext cx="11049000" cy="6894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200" b="0" i="0" u="none" strike="noStrike" cap="none">
                <a:solidFill>
                  <a:srgbClr val="2D3436"/>
                </a:solidFill>
                <a:latin typeface="DejaVu Math TeX Gyre" panose="02000503000000000000" pitchFamily="2" charset="0"/>
                <a:ea typeface="DejaVu Math TeX Gyre" panose="02000503000000000000" pitchFamily="2" charset="0"/>
                <a:cs typeface="DejaVu Math TeX Gyre" panose="02000503000000000000" pitchFamily="2" charset="0"/>
                <a:sym typeface="Lato"/>
              </a:rPr>
              <a:t>Các Em có thắc mắc gì về bài học không?</a:t>
            </a:r>
            <a:endParaRPr sz="2000"/>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421</TotalTime>
  <Words>1184</Words>
  <Application>Microsoft Office PowerPoint</Application>
  <PresentationFormat>Màn hình rộng</PresentationFormat>
  <Paragraphs>130</Paragraphs>
  <Slides>29</Slides>
  <Notes>29</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29</vt:i4>
      </vt:variant>
    </vt:vector>
  </HeadingPairs>
  <TitlesOfParts>
    <vt:vector size="34" baseType="lpstr">
      <vt:lpstr>Arial</vt:lpstr>
      <vt:lpstr>#9Slide02 Noi dung dai</vt:lpstr>
      <vt:lpstr>DejaVu Math TeX Gyre</vt:lpstr>
      <vt:lpstr>Calibri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9Slide.vn</dc:title>
  <dc:subject>9Slide.vn</dc:subject>
  <dc:creator>dangt</dc:creator>
  <dc:description>9Slide.vn</dc:description>
  <cp:lastModifiedBy>Ha Dang</cp:lastModifiedBy>
  <cp:revision>9</cp:revision>
  <dcterms:modified xsi:type="dcterms:W3CDTF">2026-05-10T06:12:09Z</dcterms:modified>
  <cp:category>9Slide.vn</cp:category>
</cp:coreProperties>
</file>